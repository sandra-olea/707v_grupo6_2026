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Arimo"/>
      <p:bold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gwHbmSIuzRKS5nBJl0cchRQRG9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imo-bold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Arim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a9df5ad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fa9df5ad9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12.png"/><Relationship Id="rId8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4732020" cy="10287000"/>
          </a:xfrm>
          <a:custGeom>
            <a:rect b="b" l="l" r="r" t="t"/>
            <a:pathLst>
              <a:path extrusionOk="0" h="10287000" w="4732020">
                <a:moveTo>
                  <a:pt x="0" y="0"/>
                </a:moveTo>
                <a:lnTo>
                  <a:pt x="4732020" y="0"/>
                </a:lnTo>
                <a:lnTo>
                  <a:pt x="47320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 rot="10800000">
            <a:off x="13568839" y="0"/>
            <a:ext cx="4719161" cy="10287000"/>
          </a:xfrm>
          <a:custGeom>
            <a:rect b="b" l="l" r="r" t="t"/>
            <a:pathLst>
              <a:path extrusionOk="0" h="10287000" w="4719161">
                <a:moveTo>
                  <a:pt x="4719161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4719161" y="0"/>
                </a:lnTo>
                <a:lnTo>
                  <a:pt x="4719161" y="102870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2595367" y="0"/>
            <a:ext cx="2390344" cy="2390344"/>
          </a:xfrm>
          <a:custGeom>
            <a:rect b="b" l="l" r="r" t="t"/>
            <a:pathLst>
              <a:path extrusionOk="0" h="2390344" w="2390344">
                <a:moveTo>
                  <a:pt x="0" y="0"/>
                </a:moveTo>
                <a:lnTo>
                  <a:pt x="2390344" y="0"/>
                </a:lnTo>
                <a:lnTo>
                  <a:pt x="2390344" y="2390344"/>
                </a:lnTo>
                <a:lnTo>
                  <a:pt x="0" y="239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4806196" y="3386692"/>
            <a:ext cx="8762643" cy="95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9" u="none" cap="none" strike="noStrike">
                <a:solidFill>
                  <a:srgbClr val="DAAE4D"/>
                </a:solidFill>
                <a:latin typeface="Arial"/>
                <a:ea typeface="Arial"/>
                <a:cs typeface="Arial"/>
                <a:sym typeface="Arial"/>
              </a:rPr>
              <a:t>PROYECTO DE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2236738" y="4351257"/>
            <a:ext cx="13814524" cy="2073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ENCUESTA DE CLIMA LABORAL</a:t>
            </a:r>
            <a:endParaRPr/>
          </a:p>
        </p:txBody>
      </p:sp>
      <p:grpSp>
        <p:nvGrpSpPr>
          <p:cNvPr id="89" name="Google Shape;89;p1"/>
          <p:cNvGrpSpPr/>
          <p:nvPr/>
        </p:nvGrpSpPr>
        <p:grpSpPr>
          <a:xfrm>
            <a:off x="3790539" y="8158448"/>
            <a:ext cx="10960356" cy="1099852"/>
            <a:chOff x="0" y="-47625"/>
            <a:chExt cx="14613808" cy="1466469"/>
          </a:xfrm>
        </p:grpSpPr>
        <p:sp>
          <p:nvSpPr>
            <p:cNvPr id="90" name="Google Shape;90;p1"/>
            <p:cNvSpPr txBox="1"/>
            <p:nvPr/>
          </p:nvSpPr>
          <p:spPr>
            <a:xfrm>
              <a:off x="1502622" y="-47625"/>
              <a:ext cx="11608564" cy="588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202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786384"/>
              <a:ext cx="14613808" cy="632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Propuesta de proyecto: Ingeniería en informática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-1084010" y="0"/>
            <a:ext cx="4719161" cy="10287000"/>
          </a:xfrm>
          <a:custGeom>
            <a:rect b="b" l="l" r="r" t="t"/>
            <a:pathLst>
              <a:path extrusionOk="0" h="10287000" w="4719161">
                <a:moveTo>
                  <a:pt x="0" y="0"/>
                </a:moveTo>
                <a:lnTo>
                  <a:pt x="4719161" y="0"/>
                </a:lnTo>
                <a:lnTo>
                  <a:pt x="47191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2"/>
          <p:cNvSpPr/>
          <p:nvPr/>
        </p:nvSpPr>
        <p:spPr>
          <a:xfrm rot="10800000">
            <a:off x="15475867" y="0"/>
            <a:ext cx="4732020" cy="10287000"/>
          </a:xfrm>
          <a:custGeom>
            <a:rect b="b" l="l" r="r" t="t"/>
            <a:pathLst>
              <a:path extrusionOk="0" h="10287000" w="4732020">
                <a:moveTo>
                  <a:pt x="473202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4732020" y="0"/>
                </a:lnTo>
                <a:lnTo>
                  <a:pt x="4732020" y="102870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8" name="Google Shape;98;p2"/>
          <p:cNvGrpSpPr/>
          <p:nvPr/>
        </p:nvGrpSpPr>
        <p:grpSpPr>
          <a:xfrm>
            <a:off x="2715723" y="19388"/>
            <a:ext cx="12290292" cy="1947188"/>
            <a:chOff x="0" y="-95250"/>
            <a:chExt cx="16387056" cy="2596251"/>
          </a:xfrm>
        </p:grpSpPr>
        <p:sp>
          <p:nvSpPr>
            <p:cNvPr id="99" name="Google Shape;99;p2"/>
            <p:cNvSpPr txBox="1"/>
            <p:nvPr/>
          </p:nvSpPr>
          <p:spPr>
            <a:xfrm>
              <a:off x="0" y="-95250"/>
              <a:ext cx="16387056" cy="1393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5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Introducción</a:t>
              </a:r>
              <a:endParaRPr/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1810756"/>
              <a:ext cx="16387056" cy="690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Plataforma web multiempresa para medir el clima laboral</a:t>
              </a:r>
              <a:endParaRPr/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2857500" y="2495550"/>
            <a:ext cx="6667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B8912E"/>
                </a:solidFill>
                <a:latin typeface="Arimo"/>
                <a:ea typeface="Arimo"/>
                <a:cs typeface="Arimo"/>
                <a:sym typeface="Arimo"/>
              </a:rPr>
              <a:t>PROBLEMA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2857500" y="2857500"/>
            <a:ext cx="72390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Las empresas necesitan medir el clima laboral de forma estructurada, gestionar encuestas, y actuar sobre los resultados con planes de acción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2857500" y="4276725"/>
            <a:ext cx="6667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B8912E"/>
                </a:solidFill>
                <a:latin typeface="Arimo"/>
                <a:ea typeface="Arimo"/>
                <a:cs typeface="Arimo"/>
                <a:sym typeface="Arimo"/>
              </a:rPr>
              <a:t>QUÉ ES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2857500" y="4743450"/>
            <a:ext cx="7239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Plataforma multiempresa para aplicar, gestionar, </a:t>
            </a:r>
            <a:r>
              <a:rPr b="1" i="0" lang="en-US" sz="2250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dar seguimiento</a:t>
            </a:r>
            <a:r>
              <a:rPr b="0" i="0" lang="en-US" sz="2250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 y analizar encuestas de clima laboral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2857500" y="5819775"/>
            <a:ext cx="6667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B8912E"/>
                </a:solidFill>
                <a:latin typeface="Arimo"/>
                <a:ea typeface="Arimo"/>
                <a:cs typeface="Arimo"/>
                <a:sym typeface="Arimo"/>
              </a:rPr>
              <a:t>DIFERENCIADOR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2857500" y="6286500"/>
            <a:ext cx="7239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El anonimato es estructural, no una promesa. Mapa de emociones por área. Plan de acción con responsable.</a:t>
            </a:r>
            <a:endParaRPr/>
          </a:p>
          <a:p>
            <a:pPr indent="0" lvl="0" marL="0" marR="0" rtl="0" algn="l">
              <a:lnSpc>
                <a:spcPct val="13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Preguntas y dimensiones ya establecidas, asociadas a CEAL-SM/SUSESO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4000500" y="9010650"/>
            <a:ext cx="9906000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30 requisitos funcionales · 7 dimensiones · 32 preguntas · 15 emociones · 4 roles</a:t>
            </a:r>
            <a:endParaRPr/>
          </a:p>
        </p:txBody>
      </p:sp>
      <p:grpSp>
        <p:nvGrpSpPr>
          <p:cNvPr id="108" name="Google Shape;108;p2"/>
          <p:cNvGrpSpPr/>
          <p:nvPr/>
        </p:nvGrpSpPr>
        <p:grpSpPr>
          <a:xfrm>
            <a:off x="11287125" y="5686425"/>
            <a:ext cx="2000250" cy="2028825"/>
            <a:chOff x="0" y="-38100"/>
            <a:chExt cx="2667000" cy="2705100"/>
          </a:xfrm>
        </p:grpSpPr>
        <p:sp>
          <p:nvSpPr>
            <p:cNvPr id="109" name="Google Shape;109;p2"/>
            <p:cNvSpPr/>
            <p:nvPr/>
          </p:nvSpPr>
          <p:spPr>
            <a:xfrm>
              <a:off x="600075" y="360045"/>
              <a:ext cx="1466850" cy="1840230"/>
            </a:xfrm>
            <a:custGeom>
              <a:rect b="b" l="l" r="r" t="t"/>
              <a:pathLst>
                <a:path extrusionOk="0" h="1840230" w="1466850">
                  <a:moveTo>
                    <a:pt x="266700" y="773430"/>
                  </a:moveTo>
                  <a:lnTo>
                    <a:pt x="266700" y="466725"/>
                  </a:lnTo>
                  <a:cubicBezTo>
                    <a:pt x="266700" y="208960"/>
                    <a:pt x="475660" y="0"/>
                    <a:pt x="733425" y="0"/>
                  </a:cubicBezTo>
                  <a:cubicBezTo>
                    <a:pt x="991190" y="0"/>
                    <a:pt x="1200150" y="208960"/>
                    <a:pt x="1200150" y="466725"/>
                  </a:cubicBezTo>
                  <a:lnTo>
                    <a:pt x="1200150" y="773430"/>
                  </a:lnTo>
                  <a:moveTo>
                    <a:pt x="0" y="773430"/>
                  </a:moveTo>
                  <a:lnTo>
                    <a:pt x="1466850" y="773430"/>
                  </a:lnTo>
                  <a:lnTo>
                    <a:pt x="1466850" y="1840230"/>
                  </a:lnTo>
                  <a:lnTo>
                    <a:pt x="0" y="1840230"/>
                  </a:lnTo>
                  <a:close/>
                  <a:moveTo>
                    <a:pt x="733425" y="1080135"/>
                  </a:moveTo>
                  <a:cubicBezTo>
                    <a:pt x="645048" y="1080135"/>
                    <a:pt x="573405" y="1151778"/>
                    <a:pt x="573405" y="1240155"/>
                  </a:cubicBezTo>
                  <a:cubicBezTo>
                    <a:pt x="573405" y="1328532"/>
                    <a:pt x="645048" y="1400175"/>
                    <a:pt x="733425" y="1400175"/>
                  </a:cubicBezTo>
                  <a:cubicBezTo>
                    <a:pt x="821802" y="1400175"/>
                    <a:pt x="893445" y="1328532"/>
                    <a:pt x="893445" y="1240155"/>
                  </a:cubicBezTo>
                  <a:cubicBezTo>
                    <a:pt x="893445" y="1151778"/>
                    <a:pt x="821802" y="1080135"/>
                    <a:pt x="733425" y="1080135"/>
                  </a:cubicBezTo>
                  <a:moveTo>
                    <a:pt x="733425" y="1346835"/>
                  </a:moveTo>
                  <a:lnTo>
                    <a:pt x="733425" y="1613535"/>
                  </a:lnTo>
                </a:path>
              </a:pathLst>
            </a:custGeom>
            <a:noFill/>
            <a:ln cap="sq" cmpd="sng" w="38100">
              <a:solidFill>
                <a:srgbClr val="1F1F1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0" y="-38100"/>
              <a:ext cx="2667000" cy="27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2"/>
          <p:cNvGrpSpPr/>
          <p:nvPr/>
        </p:nvGrpSpPr>
        <p:grpSpPr>
          <a:xfrm>
            <a:off x="11049000" y="3114675"/>
            <a:ext cx="2476500" cy="2409825"/>
            <a:chOff x="0" y="-38100"/>
            <a:chExt cx="3302000" cy="3213100"/>
          </a:xfrm>
        </p:grpSpPr>
        <p:sp>
          <p:nvSpPr>
            <p:cNvPr id="112" name="Google Shape;112;p2"/>
            <p:cNvSpPr/>
            <p:nvPr/>
          </p:nvSpPr>
          <p:spPr>
            <a:xfrm>
              <a:off x="495300" y="285750"/>
              <a:ext cx="2311400" cy="2603500"/>
            </a:xfrm>
            <a:custGeom>
              <a:rect b="b" l="l" r="r" t="t"/>
              <a:pathLst>
                <a:path extrusionOk="0" h="2603500" w="2311400">
                  <a:moveTo>
                    <a:pt x="0" y="349250"/>
                  </a:moveTo>
                  <a:cubicBezTo>
                    <a:pt x="0" y="542135"/>
                    <a:pt x="517425" y="698500"/>
                    <a:pt x="1155700" y="698500"/>
                  </a:cubicBezTo>
                  <a:cubicBezTo>
                    <a:pt x="1793975" y="698500"/>
                    <a:pt x="2311400" y="542135"/>
                    <a:pt x="2311400" y="349250"/>
                  </a:cubicBezTo>
                  <a:cubicBezTo>
                    <a:pt x="2311400" y="156365"/>
                    <a:pt x="1793975" y="0"/>
                    <a:pt x="1155700" y="0"/>
                  </a:cubicBezTo>
                  <a:cubicBezTo>
                    <a:pt x="517425" y="0"/>
                    <a:pt x="0" y="156365"/>
                    <a:pt x="0" y="349250"/>
                  </a:cubicBezTo>
                  <a:close/>
                  <a:moveTo>
                    <a:pt x="0" y="1111250"/>
                  </a:moveTo>
                  <a:cubicBezTo>
                    <a:pt x="0" y="1304136"/>
                    <a:pt x="517425" y="1460500"/>
                    <a:pt x="1155700" y="1460500"/>
                  </a:cubicBezTo>
                  <a:cubicBezTo>
                    <a:pt x="1793975" y="1460500"/>
                    <a:pt x="2311400" y="1304136"/>
                    <a:pt x="2311400" y="1111250"/>
                  </a:cubicBezTo>
                  <a:lnTo>
                    <a:pt x="2311400" y="1174750"/>
                  </a:lnTo>
                  <a:cubicBezTo>
                    <a:pt x="2311400" y="1367636"/>
                    <a:pt x="1793975" y="1524000"/>
                    <a:pt x="1155700" y="1524000"/>
                  </a:cubicBezTo>
                  <a:cubicBezTo>
                    <a:pt x="517425" y="1524000"/>
                    <a:pt x="0" y="1367636"/>
                    <a:pt x="0" y="1174750"/>
                  </a:cubicBezTo>
                  <a:close/>
                  <a:moveTo>
                    <a:pt x="0" y="1682750"/>
                  </a:moveTo>
                  <a:cubicBezTo>
                    <a:pt x="0" y="1875636"/>
                    <a:pt x="517425" y="2032000"/>
                    <a:pt x="1155700" y="2032000"/>
                  </a:cubicBezTo>
                  <a:cubicBezTo>
                    <a:pt x="1793975" y="2032000"/>
                    <a:pt x="2311400" y="1875636"/>
                    <a:pt x="2311400" y="1682750"/>
                  </a:cubicBezTo>
                  <a:lnTo>
                    <a:pt x="2311400" y="1746250"/>
                  </a:lnTo>
                  <a:cubicBezTo>
                    <a:pt x="2311400" y="1939136"/>
                    <a:pt x="1793975" y="2095500"/>
                    <a:pt x="1155700" y="2095500"/>
                  </a:cubicBezTo>
                  <a:cubicBezTo>
                    <a:pt x="517425" y="2095500"/>
                    <a:pt x="0" y="1939136"/>
                    <a:pt x="0" y="1746250"/>
                  </a:cubicBezTo>
                  <a:close/>
                </a:path>
              </a:pathLst>
            </a:custGeom>
            <a:noFill/>
            <a:ln cap="sq" cmpd="sng" w="38100">
              <a:solidFill>
                <a:srgbClr val="1F1F1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0" y="-38100"/>
              <a:ext cx="3302000" cy="321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 flipH="1">
            <a:off x="13555980" y="0"/>
            <a:ext cx="4732020" cy="10287000"/>
          </a:xfrm>
          <a:custGeom>
            <a:rect b="b" l="l" r="r" t="t"/>
            <a:pathLst>
              <a:path extrusionOk="0" h="10287000" w="4732020">
                <a:moveTo>
                  <a:pt x="4732020" y="0"/>
                </a:moveTo>
                <a:lnTo>
                  <a:pt x="0" y="0"/>
                </a:lnTo>
                <a:lnTo>
                  <a:pt x="0" y="10287000"/>
                </a:lnTo>
                <a:lnTo>
                  <a:pt x="4732020" y="10287000"/>
                </a:lnTo>
                <a:lnTo>
                  <a:pt x="473202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3"/>
          <p:cNvSpPr txBox="1"/>
          <p:nvPr/>
        </p:nvSpPr>
        <p:spPr>
          <a:xfrm>
            <a:off x="1028700" y="741556"/>
            <a:ext cx="11240273" cy="760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Datos EDT - Costo por fase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1028700" y="1666875"/>
            <a:ext cx="11338596" cy="453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1387" lvl="0" marL="0" marR="0" rtl="0" algn="l">
              <a:lnSpc>
                <a:spcPct val="135012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Tiempo, dinero y esfuerzo comprometidos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1028700" y="3238500"/>
            <a:ext cx="3619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8912E"/>
                </a:solidFill>
                <a:latin typeface="Arimo"/>
                <a:ea typeface="Arimo"/>
                <a:cs typeface="Arimo"/>
                <a:sym typeface="Arimo"/>
              </a:rPr>
              <a:t>TIEMPO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1028700" y="3676650"/>
            <a:ext cx="3810000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13-08-2026 → 03-12-2026</a:t>
            </a:r>
            <a:endParaRPr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112 días de calendario</a:t>
            </a:r>
            <a:endParaRPr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5 fases · 600 horas hombre</a:t>
            </a:r>
            <a:endParaRPr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3 personas en 5 roles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5219700" y="3238500"/>
            <a:ext cx="3810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8912E"/>
                </a:solidFill>
                <a:latin typeface="Arimo"/>
                <a:ea typeface="Arimo"/>
                <a:cs typeface="Arimo"/>
                <a:sym typeface="Arimo"/>
              </a:rPr>
              <a:t>DINERO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5219700" y="3705225"/>
            <a:ext cx="3429000" cy="3057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Costo directo 600 HH</a:t>
            </a:r>
            <a:endParaRPr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$ 6.919.500</a:t>
            </a:r>
            <a:endParaRPr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Margen 60 %</a:t>
            </a:r>
            <a:endParaRPr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$ 4.151.700</a:t>
            </a:r>
            <a:endParaRPr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Precio final</a:t>
            </a:r>
            <a:endParaRPr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$ 11.071.200</a:t>
            </a:r>
            <a:endParaRPr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Holgura sobre el aprobado</a:t>
            </a:r>
            <a:endParaRPr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$ 728.800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9029700" y="3238500"/>
            <a:ext cx="3810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8912E"/>
                </a:solidFill>
                <a:latin typeface="Arimo"/>
                <a:ea typeface="Arimo"/>
                <a:cs typeface="Arimo"/>
                <a:sym typeface="Arimo"/>
              </a:rPr>
              <a:t>ESFUERZO POR FASE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9029700" y="3676650"/>
            <a:ext cx="4048125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Planificación · 42 HH · 7,5 %</a:t>
            </a:r>
            <a:endParaRPr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Análisis y diseño · 99 HH · 16,4 %</a:t>
            </a:r>
            <a:endParaRPr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Desarrollo · 326 HH · 55,2 %</a:t>
            </a:r>
            <a:endParaRPr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Pruebas y QA · 89 HH · 13,6 %</a:t>
            </a:r>
            <a:endParaRPr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Implementación · 44 HH · 7,3 %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1028700" y="8324850"/>
            <a:ext cx="11715750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50" u="none" cap="none" strike="noStrike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El 55 % del costo está en desarrollo. Y dentro de desarrollo el DBA pesa casi tanto como el programador: 104 HH contra 129. En este producto la complejidad está en la base de datos, no en la pantalla.</a:t>
            </a:r>
            <a:endParaRPr/>
          </a:p>
        </p:txBody>
      </p:sp>
      <p:grpSp>
        <p:nvGrpSpPr>
          <p:cNvPr id="128" name="Google Shape;128;p3"/>
          <p:cNvGrpSpPr/>
          <p:nvPr/>
        </p:nvGrpSpPr>
        <p:grpSpPr>
          <a:xfrm>
            <a:off x="1028700" y="2447925"/>
            <a:ext cx="590550" cy="619125"/>
            <a:chOff x="0" y="-38100"/>
            <a:chExt cx="787400" cy="825500"/>
          </a:xfrm>
        </p:grpSpPr>
        <p:sp>
          <p:nvSpPr>
            <p:cNvPr id="129" name="Google Shape;129;p3"/>
            <p:cNvSpPr/>
            <p:nvPr/>
          </p:nvSpPr>
          <p:spPr>
            <a:xfrm>
              <a:off x="78740" y="78740"/>
              <a:ext cx="629920" cy="629920"/>
            </a:xfrm>
            <a:custGeom>
              <a:rect b="b" l="l" r="r" t="t"/>
              <a:pathLst>
                <a:path extrusionOk="0" h="629920" w="629920">
                  <a:moveTo>
                    <a:pt x="0" y="314960"/>
                  </a:moveTo>
                  <a:cubicBezTo>
                    <a:pt x="0" y="488908"/>
                    <a:pt x="141012" y="629920"/>
                    <a:pt x="314960" y="629920"/>
                  </a:cubicBezTo>
                  <a:cubicBezTo>
                    <a:pt x="488908" y="629920"/>
                    <a:pt x="629920" y="488908"/>
                    <a:pt x="629920" y="314960"/>
                  </a:cubicBezTo>
                  <a:cubicBezTo>
                    <a:pt x="629920" y="141012"/>
                    <a:pt x="488908" y="0"/>
                    <a:pt x="314960" y="0"/>
                  </a:cubicBezTo>
                  <a:cubicBezTo>
                    <a:pt x="141012" y="0"/>
                    <a:pt x="0" y="141012"/>
                    <a:pt x="0" y="314960"/>
                  </a:cubicBezTo>
                  <a:close/>
                  <a:moveTo>
                    <a:pt x="291338" y="314960"/>
                  </a:moveTo>
                  <a:lnTo>
                    <a:pt x="291338" y="125984"/>
                  </a:lnTo>
                  <a:lnTo>
                    <a:pt x="338582" y="125984"/>
                  </a:lnTo>
                  <a:lnTo>
                    <a:pt x="338582" y="314960"/>
                  </a:lnTo>
                  <a:close/>
                  <a:moveTo>
                    <a:pt x="314960" y="291338"/>
                  </a:moveTo>
                  <a:lnTo>
                    <a:pt x="503936" y="291338"/>
                  </a:lnTo>
                  <a:lnTo>
                    <a:pt x="503936" y="338582"/>
                  </a:lnTo>
                  <a:lnTo>
                    <a:pt x="314960" y="338582"/>
                  </a:lnTo>
                  <a:close/>
                </a:path>
              </a:pathLst>
            </a:custGeom>
            <a:noFill/>
            <a:ln cap="sq" cmpd="sng" w="28575">
              <a:solidFill>
                <a:srgbClr val="1F1F1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 txBox="1"/>
            <p:nvPr/>
          </p:nvSpPr>
          <p:spPr>
            <a:xfrm>
              <a:off x="0" y="-38100"/>
              <a:ext cx="787400" cy="8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3"/>
          <p:cNvGrpSpPr/>
          <p:nvPr/>
        </p:nvGrpSpPr>
        <p:grpSpPr>
          <a:xfrm>
            <a:off x="5219700" y="2524125"/>
            <a:ext cx="666750" cy="466725"/>
            <a:chOff x="0" y="-38100"/>
            <a:chExt cx="889000" cy="622300"/>
          </a:xfrm>
        </p:grpSpPr>
        <p:sp>
          <p:nvSpPr>
            <p:cNvPr id="132" name="Google Shape;132;p3"/>
            <p:cNvSpPr/>
            <p:nvPr/>
          </p:nvSpPr>
          <p:spPr>
            <a:xfrm>
              <a:off x="71120" y="146050"/>
              <a:ext cx="746760" cy="292100"/>
            </a:xfrm>
            <a:custGeom>
              <a:rect b="b" l="l" r="r" t="t"/>
              <a:pathLst>
                <a:path extrusionOk="0" h="292100" w="746760">
                  <a:moveTo>
                    <a:pt x="0" y="0"/>
                  </a:moveTo>
                  <a:lnTo>
                    <a:pt x="746760" y="0"/>
                  </a:lnTo>
                  <a:lnTo>
                    <a:pt x="746760" y="292100"/>
                  </a:lnTo>
                  <a:lnTo>
                    <a:pt x="0" y="292100"/>
                  </a:lnTo>
                  <a:close/>
                  <a:moveTo>
                    <a:pt x="240030" y="146050"/>
                  </a:moveTo>
                  <a:cubicBezTo>
                    <a:pt x="240030" y="194447"/>
                    <a:pt x="299733" y="233680"/>
                    <a:pt x="373380" y="233680"/>
                  </a:cubicBezTo>
                  <a:cubicBezTo>
                    <a:pt x="447027" y="233680"/>
                    <a:pt x="506730" y="194447"/>
                    <a:pt x="506730" y="146050"/>
                  </a:cubicBezTo>
                  <a:cubicBezTo>
                    <a:pt x="506730" y="114743"/>
                    <a:pt x="481314" y="85814"/>
                    <a:pt x="440055" y="70160"/>
                  </a:cubicBezTo>
                  <a:cubicBezTo>
                    <a:pt x="398796" y="54507"/>
                    <a:pt x="347964" y="54507"/>
                    <a:pt x="306705" y="70160"/>
                  </a:cubicBezTo>
                  <a:cubicBezTo>
                    <a:pt x="265446" y="85814"/>
                    <a:pt x="240030" y="114743"/>
                    <a:pt x="240030" y="146050"/>
                  </a:cubicBezTo>
                  <a:close/>
                </a:path>
              </a:pathLst>
            </a:custGeom>
            <a:noFill/>
            <a:ln cap="sq" cmpd="sng" w="28575">
              <a:solidFill>
                <a:srgbClr val="1F1F1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 txBox="1"/>
            <p:nvPr/>
          </p:nvSpPr>
          <p:spPr>
            <a:xfrm>
              <a:off x="0" y="-38100"/>
              <a:ext cx="889000" cy="6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3"/>
          <p:cNvGrpSpPr/>
          <p:nvPr/>
        </p:nvGrpSpPr>
        <p:grpSpPr>
          <a:xfrm>
            <a:off x="9029700" y="2466975"/>
            <a:ext cx="590550" cy="581025"/>
            <a:chOff x="0" y="-38100"/>
            <a:chExt cx="787400" cy="774700"/>
          </a:xfrm>
        </p:grpSpPr>
        <p:sp>
          <p:nvSpPr>
            <p:cNvPr id="135" name="Google Shape;135;p3"/>
            <p:cNvSpPr/>
            <p:nvPr/>
          </p:nvSpPr>
          <p:spPr>
            <a:xfrm>
              <a:off x="118110" y="147320"/>
              <a:ext cx="551180" cy="522986"/>
            </a:xfrm>
            <a:custGeom>
              <a:rect b="b" l="l" r="r" t="t"/>
              <a:pathLst>
                <a:path extrusionOk="0" h="522986" w="551180">
                  <a:moveTo>
                    <a:pt x="0" y="478790"/>
                  </a:moveTo>
                  <a:lnTo>
                    <a:pt x="551180" y="478790"/>
                  </a:lnTo>
                  <a:lnTo>
                    <a:pt x="551180" y="522986"/>
                  </a:lnTo>
                  <a:lnTo>
                    <a:pt x="0" y="522986"/>
                  </a:lnTo>
                  <a:close/>
                  <a:moveTo>
                    <a:pt x="39370" y="257810"/>
                  </a:moveTo>
                  <a:lnTo>
                    <a:pt x="165354" y="257810"/>
                  </a:lnTo>
                  <a:lnTo>
                    <a:pt x="165354" y="478790"/>
                  </a:lnTo>
                  <a:lnTo>
                    <a:pt x="39370" y="478790"/>
                  </a:lnTo>
                  <a:close/>
                  <a:moveTo>
                    <a:pt x="212598" y="110490"/>
                  </a:moveTo>
                  <a:lnTo>
                    <a:pt x="338582" y="110490"/>
                  </a:lnTo>
                  <a:lnTo>
                    <a:pt x="338582" y="478790"/>
                  </a:lnTo>
                  <a:lnTo>
                    <a:pt x="212598" y="478790"/>
                  </a:lnTo>
                  <a:close/>
                  <a:moveTo>
                    <a:pt x="385826" y="0"/>
                  </a:moveTo>
                  <a:lnTo>
                    <a:pt x="511810" y="0"/>
                  </a:lnTo>
                  <a:lnTo>
                    <a:pt x="511810" y="478790"/>
                  </a:lnTo>
                  <a:lnTo>
                    <a:pt x="385826" y="478790"/>
                  </a:lnTo>
                  <a:close/>
                </a:path>
              </a:pathLst>
            </a:custGeom>
            <a:noFill/>
            <a:ln cap="sq" cmpd="sng" w="28575">
              <a:solidFill>
                <a:srgbClr val="1F1F1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36" name="Google Shape;136;p3"/>
            <p:cNvSpPr txBox="1"/>
            <p:nvPr/>
          </p:nvSpPr>
          <p:spPr>
            <a:xfrm>
              <a:off x="0" y="-38100"/>
              <a:ext cx="787400" cy="7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/>
          <p:nvPr/>
        </p:nvSpPr>
        <p:spPr>
          <a:xfrm>
            <a:off x="-818538" y="0"/>
            <a:ext cx="5110236" cy="11139478"/>
          </a:xfrm>
          <a:custGeom>
            <a:rect b="b" l="l" r="r" t="t"/>
            <a:pathLst>
              <a:path extrusionOk="0" h="11139478" w="5110236">
                <a:moveTo>
                  <a:pt x="0" y="0"/>
                </a:moveTo>
                <a:lnTo>
                  <a:pt x="5110235" y="0"/>
                </a:lnTo>
                <a:lnTo>
                  <a:pt x="5110235" y="11139478"/>
                </a:lnTo>
                <a:lnTo>
                  <a:pt x="0" y="11139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4"/>
          <p:cNvSpPr/>
          <p:nvPr/>
        </p:nvSpPr>
        <p:spPr>
          <a:xfrm rot="10800000">
            <a:off x="13555980" y="0"/>
            <a:ext cx="4732020" cy="10287000"/>
          </a:xfrm>
          <a:custGeom>
            <a:rect b="b" l="l" r="r" t="t"/>
            <a:pathLst>
              <a:path extrusionOk="0" h="10287000" w="4732020">
                <a:moveTo>
                  <a:pt x="473202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4732020" y="0"/>
                </a:lnTo>
                <a:lnTo>
                  <a:pt x="4732020" y="102870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3" name="Google Shape;143;p4"/>
          <p:cNvGrpSpPr/>
          <p:nvPr/>
        </p:nvGrpSpPr>
        <p:grpSpPr>
          <a:xfrm>
            <a:off x="2091825" y="690563"/>
            <a:ext cx="14104350" cy="2586905"/>
            <a:chOff x="0" y="-95250"/>
            <a:chExt cx="18805800" cy="3449206"/>
          </a:xfrm>
        </p:grpSpPr>
        <p:sp>
          <p:nvSpPr>
            <p:cNvPr id="144" name="Google Shape;144;p4"/>
            <p:cNvSpPr txBox="1"/>
            <p:nvPr/>
          </p:nvSpPr>
          <p:spPr>
            <a:xfrm>
              <a:off x="0" y="-95250"/>
              <a:ext cx="18805799" cy="1393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5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Hitos importantes</a:t>
              </a:r>
              <a:endParaRPr/>
            </a:p>
          </p:txBody>
        </p:sp>
        <p:sp>
          <p:nvSpPr>
            <p:cNvPr id="145" name="Google Shape;145;p4"/>
            <p:cNvSpPr txBox="1"/>
            <p:nvPr/>
          </p:nvSpPr>
          <p:spPr>
            <a:xfrm>
              <a:off x="0" y="1810756"/>
              <a:ext cx="18805800" cy="15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45440" lvl="1" marL="690881" marR="0" rtl="0" algn="ct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3200"/>
                <a:buFont typeface="Arial"/>
                <a:buChar char="•"/>
              </a:pPr>
              <a:r>
                <a:rPr b="0" i="0" lang="en-US" sz="3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5 fases · 1</a:t>
              </a:r>
              <a:r>
                <a:rPr lang="en-US" sz="3200">
                  <a:solidFill>
                    <a:srgbClr val="1A1A1A"/>
                  </a:solidFill>
                </a:rPr>
                <a:t>12</a:t>
              </a:r>
              <a:r>
                <a:rPr b="0" i="0" lang="en-US" sz="3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días de actividad</a:t>
              </a:r>
              <a:endParaRPr/>
            </a:p>
            <a:p>
              <a:pPr indent="0" lvl="0" marL="0" marR="0" rtl="0" algn="ct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" name="Google Shape;146;p4"/>
          <p:cNvGrpSpPr/>
          <p:nvPr/>
        </p:nvGrpSpPr>
        <p:grpSpPr>
          <a:xfrm>
            <a:off x="4762500" y="4543425"/>
            <a:ext cx="8382000" cy="600075"/>
            <a:chOff x="0" y="-38100"/>
            <a:chExt cx="11176000" cy="800100"/>
          </a:xfrm>
        </p:grpSpPr>
        <p:sp>
          <p:nvSpPr>
            <p:cNvPr id="147" name="Google Shape;147;p4"/>
            <p:cNvSpPr/>
            <p:nvPr/>
          </p:nvSpPr>
          <p:spPr>
            <a:xfrm>
              <a:off x="0" y="152400"/>
              <a:ext cx="11176000" cy="457200"/>
            </a:xfrm>
            <a:custGeom>
              <a:rect b="b" l="l" r="r" t="t"/>
              <a:pathLst>
                <a:path extrusionOk="0" h="457200" w="11176000">
                  <a:moveTo>
                    <a:pt x="0" y="190500"/>
                  </a:moveTo>
                  <a:lnTo>
                    <a:pt x="11176000" y="190500"/>
                  </a:lnTo>
                  <a:lnTo>
                    <a:pt x="11176000" y="266700"/>
                  </a:lnTo>
                  <a:lnTo>
                    <a:pt x="0" y="266700"/>
                  </a:lnTo>
                  <a:close/>
                  <a:moveTo>
                    <a:pt x="152400" y="228600"/>
                  </a:moveTo>
                  <a:cubicBezTo>
                    <a:pt x="152400" y="354852"/>
                    <a:pt x="254748" y="457200"/>
                    <a:pt x="381000" y="457200"/>
                  </a:cubicBezTo>
                  <a:cubicBezTo>
                    <a:pt x="507252" y="457200"/>
                    <a:pt x="609600" y="354852"/>
                    <a:pt x="609600" y="228600"/>
                  </a:cubicBezTo>
                  <a:cubicBezTo>
                    <a:pt x="609600" y="102348"/>
                    <a:pt x="507252" y="0"/>
                    <a:pt x="381000" y="0"/>
                  </a:cubicBezTo>
                  <a:cubicBezTo>
                    <a:pt x="254748" y="0"/>
                    <a:pt x="152400" y="102348"/>
                    <a:pt x="152400" y="228600"/>
                  </a:cubicBezTo>
                  <a:close/>
                  <a:moveTo>
                    <a:pt x="2844800" y="228600"/>
                  </a:moveTo>
                  <a:cubicBezTo>
                    <a:pt x="2844800" y="354852"/>
                    <a:pt x="2947148" y="457200"/>
                    <a:pt x="3073400" y="457200"/>
                  </a:cubicBezTo>
                  <a:cubicBezTo>
                    <a:pt x="3199652" y="457200"/>
                    <a:pt x="3302000" y="354852"/>
                    <a:pt x="3302000" y="228600"/>
                  </a:cubicBezTo>
                  <a:cubicBezTo>
                    <a:pt x="3302000" y="102348"/>
                    <a:pt x="3199652" y="0"/>
                    <a:pt x="3073400" y="0"/>
                  </a:cubicBezTo>
                  <a:cubicBezTo>
                    <a:pt x="2947148" y="0"/>
                    <a:pt x="2844800" y="102348"/>
                    <a:pt x="2844800" y="228600"/>
                  </a:cubicBezTo>
                  <a:close/>
                  <a:moveTo>
                    <a:pt x="5537200" y="228600"/>
                  </a:moveTo>
                  <a:cubicBezTo>
                    <a:pt x="5537200" y="354852"/>
                    <a:pt x="5639548" y="457200"/>
                    <a:pt x="5765800" y="457200"/>
                  </a:cubicBezTo>
                  <a:cubicBezTo>
                    <a:pt x="5892052" y="457200"/>
                    <a:pt x="5994400" y="354852"/>
                    <a:pt x="5994400" y="228600"/>
                  </a:cubicBezTo>
                  <a:cubicBezTo>
                    <a:pt x="5994400" y="102348"/>
                    <a:pt x="5892052" y="0"/>
                    <a:pt x="5765800" y="0"/>
                  </a:cubicBezTo>
                  <a:cubicBezTo>
                    <a:pt x="5639548" y="0"/>
                    <a:pt x="5537200" y="102348"/>
                    <a:pt x="5537200" y="228600"/>
                  </a:cubicBezTo>
                  <a:close/>
                  <a:moveTo>
                    <a:pt x="8229600" y="228600"/>
                  </a:moveTo>
                  <a:cubicBezTo>
                    <a:pt x="8229600" y="354852"/>
                    <a:pt x="8331948" y="457200"/>
                    <a:pt x="8458200" y="457200"/>
                  </a:cubicBezTo>
                  <a:cubicBezTo>
                    <a:pt x="8584452" y="457200"/>
                    <a:pt x="8686800" y="354852"/>
                    <a:pt x="8686800" y="228600"/>
                  </a:cubicBezTo>
                  <a:cubicBezTo>
                    <a:pt x="8686800" y="102348"/>
                    <a:pt x="8584452" y="0"/>
                    <a:pt x="8458200" y="0"/>
                  </a:cubicBezTo>
                  <a:cubicBezTo>
                    <a:pt x="8331948" y="0"/>
                    <a:pt x="8229600" y="102348"/>
                    <a:pt x="8229600" y="228600"/>
                  </a:cubicBezTo>
                  <a:close/>
                  <a:moveTo>
                    <a:pt x="10566400" y="228600"/>
                  </a:moveTo>
                  <a:cubicBezTo>
                    <a:pt x="10566400" y="354852"/>
                    <a:pt x="10668748" y="457200"/>
                    <a:pt x="10795000" y="457200"/>
                  </a:cubicBezTo>
                  <a:cubicBezTo>
                    <a:pt x="10921252" y="457200"/>
                    <a:pt x="11023600" y="354852"/>
                    <a:pt x="11023600" y="228600"/>
                  </a:cubicBezTo>
                  <a:cubicBezTo>
                    <a:pt x="11023600" y="102348"/>
                    <a:pt x="10921252" y="0"/>
                    <a:pt x="10795000" y="0"/>
                  </a:cubicBezTo>
                  <a:cubicBezTo>
                    <a:pt x="10668748" y="0"/>
                    <a:pt x="10566400" y="102348"/>
                    <a:pt x="10566400" y="228600"/>
                  </a:cubicBezTo>
                  <a:close/>
                </a:path>
              </a:pathLst>
            </a:custGeom>
            <a:noFill/>
            <a:ln cap="sq" cmpd="sng" w="28575">
              <a:solidFill>
                <a:srgbClr val="1F1F1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4"/>
            <p:cNvSpPr txBox="1"/>
            <p:nvPr/>
          </p:nvSpPr>
          <p:spPr>
            <a:xfrm>
              <a:off x="0" y="-38100"/>
              <a:ext cx="111760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4"/>
          <p:cNvSpPr txBox="1"/>
          <p:nvPr/>
        </p:nvSpPr>
        <p:spPr>
          <a:xfrm>
            <a:off x="4381500" y="3857625"/>
            <a:ext cx="1333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8912E"/>
                </a:solidFill>
                <a:latin typeface="Arimo"/>
                <a:ea typeface="Arimo"/>
                <a:cs typeface="Arimo"/>
                <a:sym typeface="Arimo"/>
              </a:rPr>
              <a:t>28-08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6400800" y="3857625"/>
            <a:ext cx="1333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8912E"/>
                </a:solidFill>
                <a:latin typeface="Arimo"/>
                <a:ea typeface="Arimo"/>
                <a:cs typeface="Arimo"/>
                <a:sym typeface="Arimo"/>
              </a:rPr>
              <a:t>25-09</a:t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8420100" y="3857625"/>
            <a:ext cx="1333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8912E"/>
                </a:solidFill>
                <a:latin typeface="Arimo"/>
                <a:ea typeface="Arimo"/>
                <a:cs typeface="Arimo"/>
                <a:sym typeface="Arimo"/>
              </a:rPr>
              <a:t>24-10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10439400" y="3857625"/>
            <a:ext cx="1333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8912E"/>
                </a:solidFill>
                <a:latin typeface="Arimo"/>
                <a:ea typeface="Arimo"/>
                <a:cs typeface="Arimo"/>
                <a:sym typeface="Arimo"/>
              </a:rPr>
              <a:t>12-11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12192000" y="3857625"/>
            <a:ext cx="1333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8912E"/>
                </a:solidFill>
                <a:latin typeface="Arimo"/>
                <a:ea typeface="Arimo"/>
                <a:cs typeface="Arimo"/>
                <a:sym typeface="Arimo"/>
              </a:rPr>
              <a:t>03-12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4191000" y="5486400"/>
            <a:ext cx="1714500" cy="550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Análisis y planificación</a:t>
            </a:r>
            <a:endParaRPr/>
          </a:p>
        </p:txBody>
      </p:sp>
      <p:sp>
        <p:nvSpPr>
          <p:cNvPr id="155" name="Google Shape;155;p4"/>
          <p:cNvSpPr txBox="1"/>
          <p:nvPr/>
        </p:nvSpPr>
        <p:spPr>
          <a:xfrm>
            <a:off x="6210300" y="5486400"/>
            <a:ext cx="1714500" cy="550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Back-end y anonimato</a:t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8229600" y="5486400"/>
            <a:ext cx="1714500" cy="550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Frontend y landing page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10248900" y="5486400"/>
            <a:ext cx="1714500" cy="550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 Pruebas y despliegue</a:t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12144375" y="5486400"/>
            <a:ext cx="1428750" cy="550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Cierre del proyecto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/>
          <p:nvPr/>
        </p:nvSpPr>
        <p:spPr>
          <a:xfrm>
            <a:off x="-1337310" y="0"/>
            <a:ext cx="4732020" cy="10287000"/>
          </a:xfrm>
          <a:custGeom>
            <a:rect b="b" l="l" r="r" t="t"/>
            <a:pathLst>
              <a:path extrusionOk="0" h="10287000" w="4732020">
                <a:moveTo>
                  <a:pt x="0" y="0"/>
                </a:moveTo>
                <a:lnTo>
                  <a:pt x="4732020" y="0"/>
                </a:lnTo>
                <a:lnTo>
                  <a:pt x="47320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5"/>
          <p:cNvSpPr/>
          <p:nvPr/>
        </p:nvSpPr>
        <p:spPr>
          <a:xfrm rot="10800000">
            <a:off x="13568839" y="0"/>
            <a:ext cx="4719161" cy="10287000"/>
          </a:xfrm>
          <a:custGeom>
            <a:rect b="b" l="l" r="r" t="t"/>
            <a:pathLst>
              <a:path extrusionOk="0" h="10287000" w="4719161">
                <a:moveTo>
                  <a:pt x="4719161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4719161" y="0"/>
                </a:lnTo>
                <a:lnTo>
                  <a:pt x="4719161" y="102870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5"/>
          <p:cNvSpPr txBox="1"/>
          <p:nvPr/>
        </p:nvSpPr>
        <p:spPr>
          <a:xfrm>
            <a:off x="2151976" y="1800064"/>
            <a:ext cx="13249612" cy="833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 HACE                      QUE NO HACE </a:t>
            </a:r>
            <a:endParaRPr/>
          </a:p>
        </p:txBody>
      </p:sp>
      <p:sp>
        <p:nvSpPr>
          <p:cNvPr id="166" name="Google Shape;166;p5"/>
          <p:cNvSpPr txBox="1"/>
          <p:nvPr/>
        </p:nvSpPr>
        <p:spPr>
          <a:xfrm>
            <a:off x="2151976" y="2826878"/>
            <a:ext cx="5659533" cy="4518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1584" lvl="1" marL="463169" marR="0" rtl="0" algn="l">
              <a:lnSpc>
                <a:spcPct val="16997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45"/>
              <a:buFont typeface="Arial"/>
              <a:buChar char="•"/>
            </a:pPr>
            <a:r>
              <a:rPr b="0" i="0" lang="en-US" sz="214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Encuestas lanzadas por el gerente</a:t>
            </a:r>
            <a:endParaRPr/>
          </a:p>
          <a:p>
            <a:pPr indent="-231584" lvl="1" marL="463169" marR="0" rtl="0" algn="l">
              <a:lnSpc>
                <a:spcPct val="16997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45"/>
              <a:buFont typeface="Arial"/>
              <a:buChar char="•"/>
            </a:pPr>
            <a:r>
              <a:rPr b="0" i="0" lang="en-US" sz="214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Autenticación al correo</a:t>
            </a:r>
            <a:endParaRPr/>
          </a:p>
          <a:p>
            <a:pPr indent="-231584" lvl="1" marL="463169" marR="0" rtl="0" algn="l">
              <a:lnSpc>
                <a:spcPct val="16997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45"/>
              <a:buFont typeface="Arial"/>
              <a:buChar char="•"/>
            </a:pPr>
            <a:r>
              <a:rPr b="0" i="0" lang="en-US" sz="214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Protección de anonimato por diseño</a:t>
            </a:r>
            <a:endParaRPr/>
          </a:p>
          <a:p>
            <a:pPr indent="-231584" lvl="1" marL="463169" marR="0" rtl="0" algn="l">
              <a:lnSpc>
                <a:spcPct val="16997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45"/>
              <a:buFont typeface="Arial"/>
              <a:buChar char="•"/>
            </a:pPr>
            <a:r>
              <a:rPr b="0" i="0" lang="en-US" sz="214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Motor de encuesta con 32 preguntas </a:t>
            </a:r>
            <a:endParaRPr/>
          </a:p>
          <a:p>
            <a:pPr indent="-231584" lvl="1" marL="463169" marR="0" rtl="0" algn="l">
              <a:lnSpc>
                <a:spcPct val="16997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45"/>
              <a:buFont typeface="Arial"/>
              <a:buChar char="•"/>
            </a:pPr>
            <a:r>
              <a:rPr b="0" i="0" lang="en-US" sz="214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Mapa de emociones por área</a:t>
            </a:r>
            <a:endParaRPr/>
          </a:p>
          <a:p>
            <a:pPr indent="-231584" lvl="1" marL="463169" marR="0" rtl="0" algn="l">
              <a:lnSpc>
                <a:spcPct val="16997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45"/>
              <a:buFont typeface="Arial"/>
              <a:buChar char="•"/>
            </a:pPr>
            <a:r>
              <a:rPr b="0" i="0" lang="en-US" sz="214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Reportes con comparativa histórica</a:t>
            </a:r>
            <a:endParaRPr/>
          </a:p>
          <a:p>
            <a:pPr indent="-231584" lvl="1" marL="463169" marR="0" rtl="0" algn="l">
              <a:lnSpc>
                <a:spcPct val="16997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45"/>
              <a:buFont typeface="Arial"/>
              <a:buChar char="•"/>
            </a:pPr>
            <a:r>
              <a:rPr b="0" i="0" lang="en-US" sz="214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Planes de acción estructurados</a:t>
            </a:r>
            <a:endParaRPr/>
          </a:p>
          <a:p>
            <a:pPr indent="-231584" lvl="1" marL="463169" marR="0" rtl="0" algn="l">
              <a:lnSpc>
                <a:spcPct val="16997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45"/>
              <a:buFont typeface="Arial"/>
              <a:buChar char="•"/>
            </a:pPr>
            <a:r>
              <a:rPr b="0" i="0" lang="en-US" sz="214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Recordatorios inteligentes</a:t>
            </a:r>
            <a:endParaRPr/>
          </a:p>
          <a:p>
            <a:pPr indent="-231584" lvl="1" marL="463169" marR="0" rtl="0" algn="l">
              <a:lnSpc>
                <a:spcPct val="16997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45"/>
              <a:buFont typeface="Arial"/>
              <a:buChar char="•"/>
            </a:pPr>
            <a:r>
              <a:rPr b="0" i="0" lang="en-US" sz="214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Control de rebotes de correo</a:t>
            </a:r>
            <a:endParaRPr/>
          </a:p>
          <a:p>
            <a:pPr indent="-231584" lvl="1" marL="463169" marR="0" rtl="0" algn="l">
              <a:lnSpc>
                <a:spcPct val="16997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45"/>
              <a:buFont typeface="Arial"/>
              <a:buChar char="•"/>
            </a:pPr>
            <a:r>
              <a:rPr b="0" i="0" lang="en-US" sz="214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Responsivo y tema claro/oscuro</a:t>
            </a:r>
            <a:endParaRPr/>
          </a:p>
        </p:txBody>
      </p:sp>
      <p:sp>
        <p:nvSpPr>
          <p:cNvPr id="167" name="Google Shape;167;p5"/>
          <p:cNvSpPr txBox="1"/>
          <p:nvPr/>
        </p:nvSpPr>
        <p:spPr>
          <a:xfrm>
            <a:off x="9605812" y="2826878"/>
            <a:ext cx="5659533" cy="2702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1584" lvl="1" marL="463169" marR="0" rtl="0" algn="l">
              <a:lnSpc>
                <a:spcPct val="16997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45"/>
              <a:buFont typeface="Arial"/>
              <a:buChar char="•"/>
            </a:pPr>
            <a:r>
              <a:rPr b="0" i="0" lang="en-US" sz="214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Reabrir encuestas cerradas</a:t>
            </a:r>
            <a:endParaRPr/>
          </a:p>
          <a:p>
            <a:pPr indent="-231584" lvl="1" marL="463169" marR="0" rtl="0" algn="l">
              <a:lnSpc>
                <a:spcPct val="16997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45"/>
              <a:buFont typeface="Arial"/>
              <a:buChar char="•"/>
            </a:pPr>
            <a:r>
              <a:rPr b="0" i="0" lang="en-US" sz="214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Envío parcial de respuestas</a:t>
            </a:r>
            <a:endParaRPr/>
          </a:p>
          <a:p>
            <a:pPr indent="-231584" lvl="1" marL="463169" marR="0" rtl="0" algn="l">
              <a:lnSpc>
                <a:spcPct val="16997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45"/>
              <a:buFont typeface="Arial"/>
              <a:buChar char="•"/>
            </a:pPr>
            <a:r>
              <a:rPr b="0" i="0" lang="en-US" sz="214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Edición post-envío</a:t>
            </a:r>
            <a:endParaRPr/>
          </a:p>
          <a:p>
            <a:pPr indent="-231584" lvl="1" marL="463169" marR="0" rtl="0" algn="l">
              <a:lnSpc>
                <a:spcPct val="16997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45"/>
              <a:buFont typeface="Arial"/>
              <a:buChar char="•"/>
            </a:pPr>
            <a:r>
              <a:rPr b="0" i="0" lang="en-US" sz="214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Análisis predictivo o machine learning</a:t>
            </a:r>
            <a:endParaRPr/>
          </a:p>
          <a:p>
            <a:pPr indent="-231584" lvl="1" marL="463169" marR="0" rtl="0" algn="l">
              <a:lnSpc>
                <a:spcPct val="16997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45"/>
              <a:buFont typeface="Arial"/>
              <a:buChar char="•"/>
            </a:pPr>
            <a:r>
              <a:rPr b="0" i="0" lang="en-US" sz="214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Personalización de preguntas por empresa</a:t>
            </a:r>
            <a:endParaRPr/>
          </a:p>
          <a:p>
            <a:pPr indent="-231584" lvl="1" marL="463169" marR="0" rtl="0" algn="l">
              <a:lnSpc>
                <a:spcPct val="16997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45"/>
              <a:buFont typeface="Arial"/>
              <a:buChar char="•"/>
            </a:pPr>
            <a:r>
              <a:rPr b="0" i="0" lang="en-US" sz="214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Multi idioma</a:t>
            </a:r>
            <a:endParaRPr/>
          </a:p>
        </p:txBody>
      </p:sp>
      <p:cxnSp>
        <p:nvCxnSpPr>
          <p:cNvPr id="168" name="Google Shape;168;p5"/>
          <p:cNvCxnSpPr/>
          <p:nvPr/>
        </p:nvCxnSpPr>
        <p:spPr>
          <a:xfrm>
            <a:off x="8776782" y="1790539"/>
            <a:ext cx="0" cy="6885534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/>
          <p:nvPr/>
        </p:nvSpPr>
        <p:spPr>
          <a:xfrm>
            <a:off x="-818538" y="0"/>
            <a:ext cx="5110236" cy="11139478"/>
          </a:xfrm>
          <a:custGeom>
            <a:rect b="b" l="l" r="r" t="t"/>
            <a:pathLst>
              <a:path extrusionOk="0" h="11139478" w="5110236">
                <a:moveTo>
                  <a:pt x="0" y="0"/>
                </a:moveTo>
                <a:lnTo>
                  <a:pt x="5110235" y="0"/>
                </a:lnTo>
                <a:lnTo>
                  <a:pt x="5110235" y="11139478"/>
                </a:lnTo>
                <a:lnTo>
                  <a:pt x="0" y="11139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6"/>
          <p:cNvSpPr/>
          <p:nvPr/>
        </p:nvSpPr>
        <p:spPr>
          <a:xfrm rot="10800000">
            <a:off x="13555980" y="0"/>
            <a:ext cx="4732020" cy="10287000"/>
          </a:xfrm>
          <a:custGeom>
            <a:rect b="b" l="l" r="r" t="t"/>
            <a:pathLst>
              <a:path extrusionOk="0" h="10287000" w="4732020">
                <a:moveTo>
                  <a:pt x="473202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4732020" y="0"/>
                </a:lnTo>
                <a:lnTo>
                  <a:pt x="4732020" y="102870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5" name="Google Shape;175;p6"/>
          <p:cNvGrpSpPr/>
          <p:nvPr/>
        </p:nvGrpSpPr>
        <p:grpSpPr>
          <a:xfrm>
            <a:off x="2091825" y="595313"/>
            <a:ext cx="14104349" cy="1947188"/>
            <a:chOff x="0" y="-95250"/>
            <a:chExt cx="18805799" cy="2596251"/>
          </a:xfrm>
        </p:grpSpPr>
        <p:sp>
          <p:nvSpPr>
            <p:cNvPr id="176" name="Google Shape;176;p6"/>
            <p:cNvSpPr txBox="1"/>
            <p:nvPr/>
          </p:nvSpPr>
          <p:spPr>
            <a:xfrm>
              <a:off x="0" y="-95250"/>
              <a:ext cx="18805799" cy="1393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5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Tecnologías de desarrollo</a:t>
              </a:r>
              <a:endParaRPr/>
            </a:p>
          </p:txBody>
        </p:sp>
        <p:sp>
          <p:nvSpPr>
            <p:cNvPr id="177" name="Google Shape;177;p6"/>
            <p:cNvSpPr txBox="1"/>
            <p:nvPr/>
          </p:nvSpPr>
          <p:spPr>
            <a:xfrm>
              <a:off x="0" y="1810756"/>
              <a:ext cx="18805799" cy="690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03200" lvl="0" marL="0" marR="0" rtl="0" algn="ct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3200"/>
                <a:buFont typeface="Arial"/>
                <a:buChar char="•"/>
              </a:pPr>
              <a:r>
                <a:rPr b="0" i="0" lang="en-US" sz="3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Cuatro capas, una sola fuente de verdad</a:t>
              </a:r>
              <a:endParaRPr/>
            </a:p>
          </p:txBody>
        </p:sp>
      </p:grpSp>
      <p:grpSp>
        <p:nvGrpSpPr>
          <p:cNvPr id="178" name="Google Shape;178;p6"/>
          <p:cNvGrpSpPr/>
          <p:nvPr/>
        </p:nvGrpSpPr>
        <p:grpSpPr>
          <a:xfrm>
            <a:off x="3238500" y="3114675"/>
            <a:ext cx="2286000" cy="1076325"/>
            <a:chOff x="0" y="-38100"/>
            <a:chExt cx="3048000" cy="1435100"/>
          </a:xfrm>
        </p:grpSpPr>
        <p:sp>
          <p:nvSpPr>
            <p:cNvPr id="179" name="Google Shape;179;p6"/>
            <p:cNvSpPr/>
            <p:nvPr/>
          </p:nvSpPr>
          <p:spPr>
            <a:xfrm>
              <a:off x="0" y="0"/>
              <a:ext cx="3048000" cy="1397000"/>
            </a:xfrm>
            <a:custGeom>
              <a:rect b="b" l="l" r="r" t="t"/>
              <a:pathLst>
                <a:path extrusionOk="0" h="1397000" w="3048000">
                  <a:moveTo>
                    <a:pt x="127000" y="0"/>
                  </a:moveTo>
                  <a:lnTo>
                    <a:pt x="2921000" y="0"/>
                  </a:lnTo>
                  <a:cubicBezTo>
                    <a:pt x="2991140" y="0"/>
                    <a:pt x="3048000" y="56860"/>
                    <a:pt x="3048000" y="127000"/>
                  </a:cubicBezTo>
                  <a:lnTo>
                    <a:pt x="3048000" y="1270000"/>
                  </a:lnTo>
                  <a:cubicBezTo>
                    <a:pt x="3048000" y="1340140"/>
                    <a:pt x="2991140" y="1397000"/>
                    <a:pt x="2921000" y="1397000"/>
                  </a:cubicBezTo>
                  <a:lnTo>
                    <a:pt x="127000" y="1397000"/>
                  </a:lnTo>
                  <a:cubicBezTo>
                    <a:pt x="56860" y="1397000"/>
                    <a:pt x="0" y="1340140"/>
                    <a:pt x="0" y="1270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noFill/>
            <a:ln cap="sq" cmpd="sng" w="28575">
              <a:solidFill>
                <a:srgbClr val="1F1F1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6"/>
            <p:cNvSpPr txBox="1"/>
            <p:nvPr/>
          </p:nvSpPr>
          <p:spPr>
            <a:xfrm>
              <a:off x="0" y="-38100"/>
              <a:ext cx="3048000" cy="14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6"/>
          <p:cNvGrpSpPr/>
          <p:nvPr/>
        </p:nvGrpSpPr>
        <p:grpSpPr>
          <a:xfrm>
            <a:off x="5905500" y="3114675"/>
            <a:ext cx="2286000" cy="1076325"/>
            <a:chOff x="0" y="-38100"/>
            <a:chExt cx="3048000" cy="1435100"/>
          </a:xfrm>
        </p:grpSpPr>
        <p:sp>
          <p:nvSpPr>
            <p:cNvPr id="182" name="Google Shape;182;p6"/>
            <p:cNvSpPr/>
            <p:nvPr/>
          </p:nvSpPr>
          <p:spPr>
            <a:xfrm>
              <a:off x="0" y="0"/>
              <a:ext cx="3048000" cy="1397000"/>
            </a:xfrm>
            <a:custGeom>
              <a:rect b="b" l="l" r="r" t="t"/>
              <a:pathLst>
                <a:path extrusionOk="0" h="1397000" w="3048000">
                  <a:moveTo>
                    <a:pt x="127000" y="0"/>
                  </a:moveTo>
                  <a:lnTo>
                    <a:pt x="2921000" y="0"/>
                  </a:lnTo>
                  <a:cubicBezTo>
                    <a:pt x="2991140" y="0"/>
                    <a:pt x="3048000" y="56860"/>
                    <a:pt x="3048000" y="127000"/>
                  </a:cubicBezTo>
                  <a:lnTo>
                    <a:pt x="3048000" y="1270000"/>
                  </a:lnTo>
                  <a:cubicBezTo>
                    <a:pt x="3048000" y="1340140"/>
                    <a:pt x="2991140" y="1397000"/>
                    <a:pt x="2921000" y="1397000"/>
                  </a:cubicBezTo>
                  <a:lnTo>
                    <a:pt x="127000" y="1397000"/>
                  </a:lnTo>
                  <a:cubicBezTo>
                    <a:pt x="56860" y="1397000"/>
                    <a:pt x="0" y="1340140"/>
                    <a:pt x="0" y="1270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noFill/>
            <a:ln cap="sq" cmpd="sng" w="28575">
              <a:solidFill>
                <a:srgbClr val="1F1F1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6"/>
            <p:cNvSpPr txBox="1"/>
            <p:nvPr/>
          </p:nvSpPr>
          <p:spPr>
            <a:xfrm>
              <a:off x="0" y="-38100"/>
              <a:ext cx="3048000" cy="14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6"/>
          <p:cNvGrpSpPr/>
          <p:nvPr/>
        </p:nvGrpSpPr>
        <p:grpSpPr>
          <a:xfrm>
            <a:off x="8572500" y="3114675"/>
            <a:ext cx="2286000" cy="1076325"/>
            <a:chOff x="0" y="-38100"/>
            <a:chExt cx="3048000" cy="1435100"/>
          </a:xfrm>
        </p:grpSpPr>
        <p:sp>
          <p:nvSpPr>
            <p:cNvPr id="185" name="Google Shape;185;p6"/>
            <p:cNvSpPr/>
            <p:nvPr/>
          </p:nvSpPr>
          <p:spPr>
            <a:xfrm>
              <a:off x="0" y="0"/>
              <a:ext cx="3048000" cy="1397000"/>
            </a:xfrm>
            <a:custGeom>
              <a:rect b="b" l="l" r="r" t="t"/>
              <a:pathLst>
                <a:path extrusionOk="0" h="1397000" w="3048000">
                  <a:moveTo>
                    <a:pt x="127000" y="0"/>
                  </a:moveTo>
                  <a:lnTo>
                    <a:pt x="2921000" y="0"/>
                  </a:lnTo>
                  <a:cubicBezTo>
                    <a:pt x="2991140" y="0"/>
                    <a:pt x="3048000" y="56860"/>
                    <a:pt x="3048000" y="127000"/>
                  </a:cubicBezTo>
                  <a:lnTo>
                    <a:pt x="3048000" y="1270000"/>
                  </a:lnTo>
                  <a:cubicBezTo>
                    <a:pt x="3048000" y="1340140"/>
                    <a:pt x="2991140" y="1397000"/>
                    <a:pt x="2921000" y="1397000"/>
                  </a:cubicBezTo>
                  <a:lnTo>
                    <a:pt x="127000" y="1397000"/>
                  </a:lnTo>
                  <a:cubicBezTo>
                    <a:pt x="56860" y="1397000"/>
                    <a:pt x="0" y="1340140"/>
                    <a:pt x="0" y="1270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noFill/>
            <a:ln cap="sq" cmpd="sng" w="38100">
              <a:solidFill>
                <a:srgbClr val="B8912E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6"/>
            <p:cNvSpPr txBox="1"/>
            <p:nvPr/>
          </p:nvSpPr>
          <p:spPr>
            <a:xfrm>
              <a:off x="0" y="-38100"/>
              <a:ext cx="3048000" cy="14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6"/>
          <p:cNvGrpSpPr/>
          <p:nvPr/>
        </p:nvGrpSpPr>
        <p:grpSpPr>
          <a:xfrm>
            <a:off x="11239500" y="3114675"/>
            <a:ext cx="2286000" cy="1076325"/>
            <a:chOff x="0" y="-38100"/>
            <a:chExt cx="3048000" cy="1435100"/>
          </a:xfrm>
        </p:grpSpPr>
        <p:sp>
          <p:nvSpPr>
            <p:cNvPr id="188" name="Google Shape;188;p6"/>
            <p:cNvSpPr/>
            <p:nvPr/>
          </p:nvSpPr>
          <p:spPr>
            <a:xfrm>
              <a:off x="0" y="0"/>
              <a:ext cx="3048000" cy="1397000"/>
            </a:xfrm>
            <a:custGeom>
              <a:rect b="b" l="l" r="r" t="t"/>
              <a:pathLst>
                <a:path extrusionOk="0" h="1397000" w="3048000">
                  <a:moveTo>
                    <a:pt x="127000" y="0"/>
                  </a:moveTo>
                  <a:lnTo>
                    <a:pt x="2921000" y="0"/>
                  </a:lnTo>
                  <a:cubicBezTo>
                    <a:pt x="2991140" y="0"/>
                    <a:pt x="3048000" y="56860"/>
                    <a:pt x="3048000" y="127000"/>
                  </a:cubicBezTo>
                  <a:lnTo>
                    <a:pt x="3048000" y="1270000"/>
                  </a:lnTo>
                  <a:cubicBezTo>
                    <a:pt x="3048000" y="1340140"/>
                    <a:pt x="2991140" y="1397000"/>
                    <a:pt x="2921000" y="1397000"/>
                  </a:cubicBezTo>
                  <a:lnTo>
                    <a:pt x="127000" y="1397000"/>
                  </a:lnTo>
                  <a:cubicBezTo>
                    <a:pt x="56860" y="1397000"/>
                    <a:pt x="0" y="1340140"/>
                    <a:pt x="0" y="1270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noFill/>
            <a:ln cap="sq" cmpd="sng" w="28575">
              <a:solidFill>
                <a:srgbClr val="1F1F1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6"/>
            <p:cNvSpPr txBox="1"/>
            <p:nvPr/>
          </p:nvSpPr>
          <p:spPr>
            <a:xfrm>
              <a:off x="0" y="-38100"/>
              <a:ext cx="3048000" cy="14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0" name="Google Shape;190;p6"/>
          <p:cNvGrpSpPr/>
          <p:nvPr/>
        </p:nvGrpSpPr>
        <p:grpSpPr>
          <a:xfrm>
            <a:off x="5543550" y="3448050"/>
            <a:ext cx="342900" cy="409575"/>
            <a:chOff x="0" y="-38100"/>
            <a:chExt cx="457200" cy="546100"/>
          </a:xfrm>
        </p:grpSpPr>
        <p:sp>
          <p:nvSpPr>
            <p:cNvPr id="191" name="Google Shape;191;p6"/>
            <p:cNvSpPr/>
            <p:nvPr/>
          </p:nvSpPr>
          <p:spPr>
            <a:xfrm>
              <a:off x="0" y="50800"/>
              <a:ext cx="457200" cy="406400"/>
            </a:xfrm>
            <a:custGeom>
              <a:rect b="b" l="l" r="r" t="t"/>
              <a:pathLst>
                <a:path extrusionOk="0" h="406400" w="457200">
                  <a:moveTo>
                    <a:pt x="0" y="127000"/>
                  </a:moveTo>
                  <a:lnTo>
                    <a:pt x="254000" y="127000"/>
                  </a:lnTo>
                  <a:lnTo>
                    <a:pt x="254000" y="0"/>
                  </a:lnTo>
                  <a:lnTo>
                    <a:pt x="457200" y="203200"/>
                  </a:lnTo>
                  <a:lnTo>
                    <a:pt x="254000" y="406400"/>
                  </a:lnTo>
                  <a:lnTo>
                    <a:pt x="254000" y="279400"/>
                  </a:lnTo>
                  <a:lnTo>
                    <a:pt x="0" y="279400"/>
                  </a:lnTo>
                  <a:close/>
                </a:path>
              </a:pathLst>
            </a:custGeom>
            <a:noFill/>
            <a:ln cap="sq" cmpd="sng" w="28575">
              <a:solidFill>
                <a:srgbClr val="1F1F1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92" name="Google Shape;192;p6"/>
            <p:cNvSpPr txBox="1"/>
            <p:nvPr/>
          </p:nvSpPr>
          <p:spPr>
            <a:xfrm>
              <a:off x="0" y="-38100"/>
              <a:ext cx="457200" cy="54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3" name="Google Shape;193;p6"/>
          <p:cNvGrpSpPr/>
          <p:nvPr/>
        </p:nvGrpSpPr>
        <p:grpSpPr>
          <a:xfrm>
            <a:off x="8210550" y="3448050"/>
            <a:ext cx="342900" cy="409575"/>
            <a:chOff x="0" y="-38100"/>
            <a:chExt cx="457200" cy="546100"/>
          </a:xfrm>
        </p:grpSpPr>
        <p:sp>
          <p:nvSpPr>
            <p:cNvPr id="194" name="Google Shape;194;p6"/>
            <p:cNvSpPr/>
            <p:nvPr/>
          </p:nvSpPr>
          <p:spPr>
            <a:xfrm>
              <a:off x="0" y="50800"/>
              <a:ext cx="457200" cy="406400"/>
            </a:xfrm>
            <a:custGeom>
              <a:rect b="b" l="l" r="r" t="t"/>
              <a:pathLst>
                <a:path extrusionOk="0" h="406400" w="457200">
                  <a:moveTo>
                    <a:pt x="0" y="127000"/>
                  </a:moveTo>
                  <a:lnTo>
                    <a:pt x="254000" y="127000"/>
                  </a:lnTo>
                  <a:lnTo>
                    <a:pt x="254000" y="0"/>
                  </a:lnTo>
                  <a:lnTo>
                    <a:pt x="457200" y="203200"/>
                  </a:lnTo>
                  <a:lnTo>
                    <a:pt x="254000" y="406400"/>
                  </a:lnTo>
                  <a:lnTo>
                    <a:pt x="254000" y="279400"/>
                  </a:lnTo>
                  <a:lnTo>
                    <a:pt x="0" y="279400"/>
                  </a:lnTo>
                  <a:close/>
                </a:path>
              </a:pathLst>
            </a:custGeom>
            <a:noFill/>
            <a:ln cap="sq" cmpd="sng" w="28575">
              <a:solidFill>
                <a:srgbClr val="1F1F1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95" name="Google Shape;195;p6"/>
            <p:cNvSpPr txBox="1"/>
            <p:nvPr/>
          </p:nvSpPr>
          <p:spPr>
            <a:xfrm>
              <a:off x="0" y="-38100"/>
              <a:ext cx="457200" cy="54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" name="Google Shape;196;p6"/>
          <p:cNvGrpSpPr/>
          <p:nvPr/>
        </p:nvGrpSpPr>
        <p:grpSpPr>
          <a:xfrm>
            <a:off x="10877550" y="3448050"/>
            <a:ext cx="342900" cy="409575"/>
            <a:chOff x="0" y="-38100"/>
            <a:chExt cx="457200" cy="546100"/>
          </a:xfrm>
        </p:grpSpPr>
        <p:sp>
          <p:nvSpPr>
            <p:cNvPr id="197" name="Google Shape;197;p6"/>
            <p:cNvSpPr/>
            <p:nvPr/>
          </p:nvSpPr>
          <p:spPr>
            <a:xfrm>
              <a:off x="0" y="50800"/>
              <a:ext cx="457200" cy="406400"/>
            </a:xfrm>
            <a:custGeom>
              <a:rect b="b" l="l" r="r" t="t"/>
              <a:pathLst>
                <a:path extrusionOk="0" h="406400" w="457200">
                  <a:moveTo>
                    <a:pt x="0" y="127000"/>
                  </a:moveTo>
                  <a:lnTo>
                    <a:pt x="254000" y="127000"/>
                  </a:lnTo>
                  <a:lnTo>
                    <a:pt x="254000" y="0"/>
                  </a:lnTo>
                  <a:lnTo>
                    <a:pt x="457200" y="203200"/>
                  </a:lnTo>
                  <a:lnTo>
                    <a:pt x="254000" y="406400"/>
                  </a:lnTo>
                  <a:lnTo>
                    <a:pt x="254000" y="279400"/>
                  </a:lnTo>
                  <a:lnTo>
                    <a:pt x="0" y="279400"/>
                  </a:lnTo>
                  <a:close/>
                </a:path>
              </a:pathLst>
            </a:custGeom>
            <a:noFill/>
            <a:ln cap="sq" cmpd="sng" w="28575">
              <a:solidFill>
                <a:srgbClr val="1F1F1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98" name="Google Shape;198;p6"/>
            <p:cNvSpPr txBox="1"/>
            <p:nvPr/>
          </p:nvSpPr>
          <p:spPr>
            <a:xfrm>
              <a:off x="0" y="-38100"/>
              <a:ext cx="457200" cy="54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6"/>
          <p:cNvSpPr txBox="1"/>
          <p:nvPr/>
        </p:nvSpPr>
        <p:spPr>
          <a:xfrm>
            <a:off x="3193644" y="3237338"/>
            <a:ext cx="2286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VisualStudio </a:t>
            </a:r>
            <a:endParaRPr b="1" sz="2250">
              <a:solidFill>
                <a:srgbClr val="1A1A1A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ctr">
              <a:lnSpc>
                <a:spcPct val="13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Code</a:t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5905500" y="3409950"/>
            <a:ext cx="2286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Vercel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8572500" y="3409950"/>
            <a:ext cx="2286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B8912E"/>
                </a:solidFill>
                <a:latin typeface="Arimo"/>
                <a:ea typeface="Arimo"/>
                <a:cs typeface="Arimo"/>
                <a:sym typeface="Arimo"/>
              </a:rPr>
              <a:t>Supabase</a:t>
            </a:r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11239500" y="3409950"/>
            <a:ext cx="2286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Externos</a:t>
            </a:r>
            <a:endParaRPr/>
          </a:p>
        </p:txBody>
      </p:sp>
      <p:sp>
        <p:nvSpPr>
          <p:cNvPr id="203" name="Google Shape;203;p6"/>
          <p:cNvSpPr txBox="1"/>
          <p:nvPr/>
        </p:nvSpPr>
        <p:spPr>
          <a:xfrm>
            <a:off x="3238500" y="4419600"/>
            <a:ext cx="2286000" cy="882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React 19 + Vite 8</a:t>
            </a:r>
            <a:endParaRPr/>
          </a:p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TypeScript</a:t>
            </a:r>
            <a:endParaRPr/>
          </a:p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SPA mobile-first</a:t>
            </a:r>
            <a:endParaRPr/>
          </a:p>
        </p:txBody>
      </p:sp>
      <p:sp>
        <p:nvSpPr>
          <p:cNvPr id="204" name="Google Shape;204;p6"/>
          <p:cNvSpPr txBox="1"/>
          <p:nvPr/>
        </p:nvSpPr>
        <p:spPr>
          <a:xfrm>
            <a:off x="5905500" y="4419600"/>
            <a:ext cx="2286000" cy="587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Dominio - Despliegue continuo</a:t>
            </a:r>
            <a:endParaRPr/>
          </a:p>
        </p:txBody>
      </p:sp>
      <p:sp>
        <p:nvSpPr>
          <p:cNvPr id="205" name="Google Shape;205;p6"/>
          <p:cNvSpPr txBox="1"/>
          <p:nvPr/>
        </p:nvSpPr>
        <p:spPr>
          <a:xfrm>
            <a:off x="8572500" y="4419600"/>
            <a:ext cx="2286000" cy="882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PostgreSQL 17</a:t>
            </a:r>
            <a:endParaRPr/>
          </a:p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RLS · ltree · vistas</a:t>
            </a:r>
            <a:endParaRPr/>
          </a:p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Auth · Edge Functions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11239500" y="4419600"/>
            <a:ext cx="2286000" cy="882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Resend: correo</a:t>
            </a:r>
            <a:endParaRPr/>
          </a:p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GitHub</a:t>
            </a:r>
            <a:endParaRPr/>
          </a:p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Claude Code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3238500" y="6524625"/>
            <a:ext cx="10287000" cy="103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La seguridad vive en la base de datos, no en el código.</a:t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3238500" y="7848600"/>
            <a:ext cx="10287000" cy="325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17 tablas · 3 vistas materializadas · 38 funciones · 6 Edge Functions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"/>
          <p:cNvSpPr/>
          <p:nvPr/>
        </p:nvSpPr>
        <p:spPr>
          <a:xfrm>
            <a:off x="-818538" y="0"/>
            <a:ext cx="5110236" cy="11139478"/>
          </a:xfrm>
          <a:custGeom>
            <a:rect b="b" l="l" r="r" t="t"/>
            <a:pathLst>
              <a:path extrusionOk="0" h="11139478" w="5110236">
                <a:moveTo>
                  <a:pt x="0" y="0"/>
                </a:moveTo>
                <a:lnTo>
                  <a:pt x="5110235" y="0"/>
                </a:lnTo>
                <a:lnTo>
                  <a:pt x="5110235" y="11139478"/>
                </a:lnTo>
                <a:lnTo>
                  <a:pt x="0" y="11139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7"/>
          <p:cNvSpPr/>
          <p:nvPr/>
        </p:nvSpPr>
        <p:spPr>
          <a:xfrm rot="10800000">
            <a:off x="13555980" y="0"/>
            <a:ext cx="4732020" cy="10287000"/>
          </a:xfrm>
          <a:custGeom>
            <a:rect b="b" l="l" r="r" t="t"/>
            <a:pathLst>
              <a:path extrusionOk="0" h="10287000" w="4732020">
                <a:moveTo>
                  <a:pt x="473202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4732020" y="0"/>
                </a:lnTo>
                <a:lnTo>
                  <a:pt x="4732020" y="102870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5" name="Google Shape;215;p7"/>
          <p:cNvGrpSpPr/>
          <p:nvPr/>
        </p:nvGrpSpPr>
        <p:grpSpPr>
          <a:xfrm>
            <a:off x="2091825" y="595313"/>
            <a:ext cx="14104349" cy="1947188"/>
            <a:chOff x="0" y="-95250"/>
            <a:chExt cx="18805799" cy="2596251"/>
          </a:xfrm>
        </p:grpSpPr>
        <p:sp>
          <p:nvSpPr>
            <p:cNvPr id="216" name="Google Shape;216;p7"/>
            <p:cNvSpPr txBox="1"/>
            <p:nvPr/>
          </p:nvSpPr>
          <p:spPr>
            <a:xfrm>
              <a:off x="0" y="-95250"/>
              <a:ext cx="18805799" cy="1393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5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Usuarios</a:t>
              </a:r>
              <a:endParaRPr/>
            </a:p>
          </p:txBody>
        </p:sp>
        <p:sp>
          <p:nvSpPr>
            <p:cNvPr id="217" name="Google Shape;217;p7"/>
            <p:cNvSpPr txBox="1"/>
            <p:nvPr/>
          </p:nvSpPr>
          <p:spPr>
            <a:xfrm>
              <a:off x="0" y="1810756"/>
              <a:ext cx="18805799" cy="690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Los 3 tipos de usuario:</a:t>
              </a:r>
              <a:endParaRPr/>
            </a:p>
          </p:txBody>
        </p:sp>
      </p:grpSp>
      <p:grpSp>
        <p:nvGrpSpPr>
          <p:cNvPr id="218" name="Google Shape;218;p7"/>
          <p:cNvGrpSpPr/>
          <p:nvPr/>
        </p:nvGrpSpPr>
        <p:grpSpPr>
          <a:xfrm>
            <a:off x="4849546" y="3114675"/>
            <a:ext cx="2286000" cy="1076325"/>
            <a:chOff x="0" y="-38100"/>
            <a:chExt cx="3048000" cy="1435100"/>
          </a:xfrm>
        </p:grpSpPr>
        <p:sp>
          <p:nvSpPr>
            <p:cNvPr id="219" name="Google Shape;219;p7"/>
            <p:cNvSpPr/>
            <p:nvPr/>
          </p:nvSpPr>
          <p:spPr>
            <a:xfrm>
              <a:off x="0" y="0"/>
              <a:ext cx="3048000" cy="1397000"/>
            </a:xfrm>
            <a:custGeom>
              <a:rect b="b" l="l" r="r" t="t"/>
              <a:pathLst>
                <a:path extrusionOk="0" h="1397000" w="3048000">
                  <a:moveTo>
                    <a:pt x="127000" y="0"/>
                  </a:moveTo>
                  <a:lnTo>
                    <a:pt x="2921000" y="0"/>
                  </a:lnTo>
                  <a:cubicBezTo>
                    <a:pt x="2991140" y="0"/>
                    <a:pt x="3048000" y="56860"/>
                    <a:pt x="3048000" y="127000"/>
                  </a:cubicBezTo>
                  <a:lnTo>
                    <a:pt x="3048000" y="1270000"/>
                  </a:lnTo>
                  <a:cubicBezTo>
                    <a:pt x="3048000" y="1340140"/>
                    <a:pt x="2991140" y="1397000"/>
                    <a:pt x="2921000" y="1397000"/>
                  </a:cubicBezTo>
                  <a:lnTo>
                    <a:pt x="127000" y="1397000"/>
                  </a:lnTo>
                  <a:cubicBezTo>
                    <a:pt x="56860" y="1397000"/>
                    <a:pt x="0" y="1340140"/>
                    <a:pt x="0" y="1270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noFill/>
            <a:ln cap="sq" cmpd="sng" w="28575">
              <a:solidFill>
                <a:srgbClr val="1F1F1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7"/>
            <p:cNvSpPr txBox="1"/>
            <p:nvPr/>
          </p:nvSpPr>
          <p:spPr>
            <a:xfrm>
              <a:off x="0" y="-38100"/>
              <a:ext cx="3048000" cy="14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7"/>
          <p:cNvGrpSpPr/>
          <p:nvPr/>
        </p:nvGrpSpPr>
        <p:grpSpPr>
          <a:xfrm>
            <a:off x="4849546" y="4493414"/>
            <a:ext cx="2286000" cy="1076325"/>
            <a:chOff x="0" y="-38100"/>
            <a:chExt cx="3048000" cy="1435100"/>
          </a:xfrm>
        </p:grpSpPr>
        <p:sp>
          <p:nvSpPr>
            <p:cNvPr id="222" name="Google Shape;222;p7"/>
            <p:cNvSpPr/>
            <p:nvPr/>
          </p:nvSpPr>
          <p:spPr>
            <a:xfrm>
              <a:off x="0" y="0"/>
              <a:ext cx="3048000" cy="1397000"/>
            </a:xfrm>
            <a:custGeom>
              <a:rect b="b" l="l" r="r" t="t"/>
              <a:pathLst>
                <a:path extrusionOk="0" h="1397000" w="3048000">
                  <a:moveTo>
                    <a:pt x="127000" y="0"/>
                  </a:moveTo>
                  <a:lnTo>
                    <a:pt x="2921000" y="0"/>
                  </a:lnTo>
                  <a:cubicBezTo>
                    <a:pt x="2991140" y="0"/>
                    <a:pt x="3048000" y="56860"/>
                    <a:pt x="3048000" y="127000"/>
                  </a:cubicBezTo>
                  <a:lnTo>
                    <a:pt x="3048000" y="1270000"/>
                  </a:lnTo>
                  <a:cubicBezTo>
                    <a:pt x="3048000" y="1340140"/>
                    <a:pt x="2991140" y="1397000"/>
                    <a:pt x="2921000" y="1397000"/>
                  </a:cubicBezTo>
                  <a:lnTo>
                    <a:pt x="127000" y="1397000"/>
                  </a:lnTo>
                  <a:cubicBezTo>
                    <a:pt x="56860" y="1397000"/>
                    <a:pt x="0" y="1340140"/>
                    <a:pt x="0" y="1270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noFill/>
            <a:ln cap="sq" cmpd="sng" w="28575">
              <a:solidFill>
                <a:srgbClr val="1F1F1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7"/>
            <p:cNvSpPr txBox="1"/>
            <p:nvPr/>
          </p:nvSpPr>
          <p:spPr>
            <a:xfrm>
              <a:off x="0" y="-38100"/>
              <a:ext cx="3048000" cy="14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7"/>
          <p:cNvGrpSpPr/>
          <p:nvPr/>
        </p:nvGrpSpPr>
        <p:grpSpPr>
          <a:xfrm>
            <a:off x="4849546" y="5874539"/>
            <a:ext cx="2286000" cy="1076325"/>
            <a:chOff x="0" y="-38100"/>
            <a:chExt cx="3048000" cy="1435100"/>
          </a:xfrm>
        </p:grpSpPr>
        <p:sp>
          <p:nvSpPr>
            <p:cNvPr id="225" name="Google Shape;225;p7"/>
            <p:cNvSpPr/>
            <p:nvPr/>
          </p:nvSpPr>
          <p:spPr>
            <a:xfrm>
              <a:off x="0" y="0"/>
              <a:ext cx="3048000" cy="1397000"/>
            </a:xfrm>
            <a:custGeom>
              <a:rect b="b" l="l" r="r" t="t"/>
              <a:pathLst>
                <a:path extrusionOk="0" h="1397000" w="3048000">
                  <a:moveTo>
                    <a:pt x="127000" y="0"/>
                  </a:moveTo>
                  <a:lnTo>
                    <a:pt x="2921000" y="0"/>
                  </a:lnTo>
                  <a:cubicBezTo>
                    <a:pt x="2991140" y="0"/>
                    <a:pt x="3048000" y="56860"/>
                    <a:pt x="3048000" y="127000"/>
                  </a:cubicBezTo>
                  <a:lnTo>
                    <a:pt x="3048000" y="1270000"/>
                  </a:lnTo>
                  <a:cubicBezTo>
                    <a:pt x="3048000" y="1340140"/>
                    <a:pt x="2991140" y="1397000"/>
                    <a:pt x="2921000" y="1397000"/>
                  </a:cubicBezTo>
                  <a:lnTo>
                    <a:pt x="127000" y="1397000"/>
                  </a:lnTo>
                  <a:cubicBezTo>
                    <a:pt x="56860" y="1397000"/>
                    <a:pt x="0" y="1340140"/>
                    <a:pt x="0" y="1270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noFill/>
            <a:ln cap="sq" cmpd="sng" w="28575">
              <a:solidFill>
                <a:srgbClr val="1F1F1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7"/>
            <p:cNvSpPr txBox="1"/>
            <p:nvPr/>
          </p:nvSpPr>
          <p:spPr>
            <a:xfrm>
              <a:off x="0" y="-38100"/>
              <a:ext cx="3048000" cy="14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7" name="Google Shape;227;p7"/>
          <p:cNvGrpSpPr/>
          <p:nvPr/>
        </p:nvGrpSpPr>
        <p:grpSpPr>
          <a:xfrm>
            <a:off x="7154596" y="3448050"/>
            <a:ext cx="342900" cy="409575"/>
            <a:chOff x="0" y="-38100"/>
            <a:chExt cx="457200" cy="546100"/>
          </a:xfrm>
        </p:grpSpPr>
        <p:sp>
          <p:nvSpPr>
            <p:cNvPr id="228" name="Google Shape;228;p7"/>
            <p:cNvSpPr/>
            <p:nvPr/>
          </p:nvSpPr>
          <p:spPr>
            <a:xfrm>
              <a:off x="0" y="50800"/>
              <a:ext cx="457200" cy="406400"/>
            </a:xfrm>
            <a:custGeom>
              <a:rect b="b" l="l" r="r" t="t"/>
              <a:pathLst>
                <a:path extrusionOk="0" h="406400" w="457200">
                  <a:moveTo>
                    <a:pt x="0" y="127000"/>
                  </a:moveTo>
                  <a:lnTo>
                    <a:pt x="254000" y="127000"/>
                  </a:lnTo>
                  <a:lnTo>
                    <a:pt x="254000" y="0"/>
                  </a:lnTo>
                  <a:lnTo>
                    <a:pt x="457200" y="203200"/>
                  </a:lnTo>
                  <a:lnTo>
                    <a:pt x="254000" y="406400"/>
                  </a:lnTo>
                  <a:lnTo>
                    <a:pt x="254000" y="279400"/>
                  </a:lnTo>
                  <a:lnTo>
                    <a:pt x="0" y="279400"/>
                  </a:lnTo>
                  <a:close/>
                </a:path>
              </a:pathLst>
            </a:custGeom>
            <a:noFill/>
            <a:ln cap="sq" cmpd="sng" w="28575">
              <a:solidFill>
                <a:srgbClr val="1F1F1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29" name="Google Shape;229;p7"/>
            <p:cNvSpPr txBox="1"/>
            <p:nvPr/>
          </p:nvSpPr>
          <p:spPr>
            <a:xfrm>
              <a:off x="0" y="-38100"/>
              <a:ext cx="457200" cy="54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7"/>
          <p:cNvGrpSpPr/>
          <p:nvPr/>
        </p:nvGrpSpPr>
        <p:grpSpPr>
          <a:xfrm>
            <a:off x="7154596" y="4826789"/>
            <a:ext cx="342900" cy="409575"/>
            <a:chOff x="0" y="-38100"/>
            <a:chExt cx="457200" cy="546100"/>
          </a:xfrm>
        </p:grpSpPr>
        <p:sp>
          <p:nvSpPr>
            <p:cNvPr id="231" name="Google Shape;231;p7"/>
            <p:cNvSpPr/>
            <p:nvPr/>
          </p:nvSpPr>
          <p:spPr>
            <a:xfrm>
              <a:off x="0" y="50800"/>
              <a:ext cx="457200" cy="406400"/>
            </a:xfrm>
            <a:custGeom>
              <a:rect b="b" l="l" r="r" t="t"/>
              <a:pathLst>
                <a:path extrusionOk="0" h="406400" w="457200">
                  <a:moveTo>
                    <a:pt x="0" y="127000"/>
                  </a:moveTo>
                  <a:lnTo>
                    <a:pt x="254000" y="127000"/>
                  </a:lnTo>
                  <a:lnTo>
                    <a:pt x="254000" y="0"/>
                  </a:lnTo>
                  <a:lnTo>
                    <a:pt x="457200" y="203200"/>
                  </a:lnTo>
                  <a:lnTo>
                    <a:pt x="254000" y="406400"/>
                  </a:lnTo>
                  <a:lnTo>
                    <a:pt x="254000" y="279400"/>
                  </a:lnTo>
                  <a:lnTo>
                    <a:pt x="0" y="279400"/>
                  </a:lnTo>
                  <a:close/>
                </a:path>
              </a:pathLst>
            </a:custGeom>
            <a:noFill/>
            <a:ln cap="sq" cmpd="sng" w="28575">
              <a:solidFill>
                <a:srgbClr val="1F1F1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32" name="Google Shape;232;p7"/>
            <p:cNvSpPr txBox="1"/>
            <p:nvPr/>
          </p:nvSpPr>
          <p:spPr>
            <a:xfrm>
              <a:off x="0" y="-38100"/>
              <a:ext cx="457200" cy="54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3" name="Google Shape;233;p7"/>
          <p:cNvGrpSpPr/>
          <p:nvPr/>
        </p:nvGrpSpPr>
        <p:grpSpPr>
          <a:xfrm>
            <a:off x="7154596" y="6198389"/>
            <a:ext cx="342900" cy="409575"/>
            <a:chOff x="0" y="-38100"/>
            <a:chExt cx="457200" cy="546100"/>
          </a:xfrm>
        </p:grpSpPr>
        <p:sp>
          <p:nvSpPr>
            <p:cNvPr id="234" name="Google Shape;234;p7"/>
            <p:cNvSpPr/>
            <p:nvPr/>
          </p:nvSpPr>
          <p:spPr>
            <a:xfrm>
              <a:off x="0" y="50800"/>
              <a:ext cx="457200" cy="406400"/>
            </a:xfrm>
            <a:custGeom>
              <a:rect b="b" l="l" r="r" t="t"/>
              <a:pathLst>
                <a:path extrusionOk="0" h="406400" w="457200">
                  <a:moveTo>
                    <a:pt x="0" y="127000"/>
                  </a:moveTo>
                  <a:lnTo>
                    <a:pt x="254000" y="127000"/>
                  </a:lnTo>
                  <a:lnTo>
                    <a:pt x="254000" y="0"/>
                  </a:lnTo>
                  <a:lnTo>
                    <a:pt x="457200" y="203200"/>
                  </a:lnTo>
                  <a:lnTo>
                    <a:pt x="254000" y="406400"/>
                  </a:lnTo>
                  <a:lnTo>
                    <a:pt x="254000" y="279400"/>
                  </a:lnTo>
                  <a:lnTo>
                    <a:pt x="0" y="279400"/>
                  </a:lnTo>
                  <a:close/>
                </a:path>
              </a:pathLst>
            </a:custGeom>
            <a:noFill/>
            <a:ln cap="sq" cmpd="sng" w="28575">
              <a:solidFill>
                <a:srgbClr val="1F1F1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35" name="Google Shape;235;p7"/>
            <p:cNvSpPr txBox="1"/>
            <p:nvPr/>
          </p:nvSpPr>
          <p:spPr>
            <a:xfrm>
              <a:off x="0" y="-38100"/>
              <a:ext cx="457200" cy="54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p7"/>
          <p:cNvSpPr txBox="1"/>
          <p:nvPr/>
        </p:nvSpPr>
        <p:spPr>
          <a:xfrm>
            <a:off x="4849546" y="3409950"/>
            <a:ext cx="2286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Gerencia</a:t>
            </a:r>
            <a:endParaRPr/>
          </a:p>
        </p:txBody>
      </p:sp>
      <p:sp>
        <p:nvSpPr>
          <p:cNvPr id="237" name="Google Shape;237;p7"/>
          <p:cNvSpPr txBox="1"/>
          <p:nvPr/>
        </p:nvSpPr>
        <p:spPr>
          <a:xfrm>
            <a:off x="4849546" y="4788689"/>
            <a:ext cx="2286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Jefe de área</a:t>
            </a:r>
            <a:endParaRPr/>
          </a:p>
        </p:txBody>
      </p:sp>
      <p:sp>
        <p:nvSpPr>
          <p:cNvPr id="238" name="Google Shape;238;p7"/>
          <p:cNvSpPr txBox="1"/>
          <p:nvPr/>
        </p:nvSpPr>
        <p:spPr>
          <a:xfrm>
            <a:off x="4849546" y="6169814"/>
            <a:ext cx="2286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Colaborador</a:t>
            </a:r>
            <a:endParaRPr/>
          </a:p>
        </p:txBody>
      </p:sp>
      <p:sp>
        <p:nvSpPr>
          <p:cNvPr id="239" name="Google Shape;239;p7"/>
          <p:cNvSpPr txBox="1"/>
          <p:nvPr/>
        </p:nvSpPr>
        <p:spPr>
          <a:xfrm>
            <a:off x="7780245" y="6067897"/>
            <a:ext cx="6054960" cy="587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Solo responde encuesta</a:t>
            </a:r>
            <a:endParaRPr/>
          </a:p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Puede retomar la encuesta si la dejo comenzada</a:t>
            </a:r>
            <a:endParaRPr/>
          </a:p>
        </p:txBody>
      </p:sp>
      <p:sp>
        <p:nvSpPr>
          <p:cNvPr id="240" name="Google Shape;240;p7"/>
          <p:cNvSpPr txBox="1"/>
          <p:nvPr/>
        </p:nvSpPr>
        <p:spPr>
          <a:xfrm>
            <a:off x="8059471" y="4562711"/>
            <a:ext cx="5496509" cy="882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Puede crear colaboladores</a:t>
            </a:r>
            <a:endParaRPr/>
          </a:p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Tiene las métricas de su equipo</a:t>
            </a:r>
            <a:endParaRPr/>
          </a:p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Crea planes de acción</a:t>
            </a:r>
            <a:endParaRPr/>
          </a:p>
        </p:txBody>
      </p:sp>
      <p:sp>
        <p:nvSpPr>
          <p:cNvPr id="241" name="Google Shape;241;p7"/>
          <p:cNvSpPr txBox="1"/>
          <p:nvPr/>
        </p:nvSpPr>
        <p:spPr>
          <a:xfrm>
            <a:off x="8059471" y="3049429"/>
            <a:ext cx="5493311" cy="1178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Usuario administrador</a:t>
            </a:r>
            <a:endParaRPr/>
          </a:p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Puede crear jefes de área</a:t>
            </a:r>
            <a:endParaRPr/>
          </a:p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Tiene la métrica de toda la organización</a:t>
            </a:r>
            <a:endParaRPr/>
          </a:p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A4A4A"/>
                </a:solidFill>
                <a:latin typeface="Arimo"/>
                <a:ea typeface="Arimo"/>
                <a:cs typeface="Arimo"/>
                <a:sym typeface="Arimo"/>
              </a:rPr>
              <a:t>Aprueba planes de acción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"/>
          <p:cNvSpPr/>
          <p:nvPr/>
        </p:nvSpPr>
        <p:spPr>
          <a:xfrm>
            <a:off x="-818538" y="0"/>
            <a:ext cx="5110236" cy="11139478"/>
          </a:xfrm>
          <a:custGeom>
            <a:rect b="b" l="l" r="r" t="t"/>
            <a:pathLst>
              <a:path extrusionOk="0" h="11139478" w="5110236">
                <a:moveTo>
                  <a:pt x="0" y="0"/>
                </a:moveTo>
                <a:lnTo>
                  <a:pt x="5110235" y="0"/>
                </a:lnTo>
                <a:lnTo>
                  <a:pt x="5110235" y="11139478"/>
                </a:lnTo>
                <a:lnTo>
                  <a:pt x="0" y="11139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8"/>
          <p:cNvSpPr/>
          <p:nvPr/>
        </p:nvSpPr>
        <p:spPr>
          <a:xfrm rot="10800000">
            <a:off x="14773275" y="0"/>
            <a:ext cx="4732020" cy="10287000"/>
          </a:xfrm>
          <a:custGeom>
            <a:rect b="b" l="l" r="r" t="t"/>
            <a:pathLst>
              <a:path extrusionOk="0" h="10287000" w="4732020">
                <a:moveTo>
                  <a:pt x="473202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4732020" y="0"/>
                </a:lnTo>
                <a:lnTo>
                  <a:pt x="4732020" y="102870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8" name="Google Shape;248;p8"/>
          <p:cNvGrpSpPr/>
          <p:nvPr/>
        </p:nvGrpSpPr>
        <p:grpSpPr>
          <a:xfrm>
            <a:off x="2091825" y="595313"/>
            <a:ext cx="14104349" cy="1947188"/>
            <a:chOff x="0" y="-95250"/>
            <a:chExt cx="18805799" cy="2596251"/>
          </a:xfrm>
        </p:grpSpPr>
        <p:sp>
          <p:nvSpPr>
            <p:cNvPr id="249" name="Google Shape;249;p8"/>
            <p:cNvSpPr txBox="1"/>
            <p:nvPr/>
          </p:nvSpPr>
          <p:spPr>
            <a:xfrm>
              <a:off x="0" y="-95250"/>
              <a:ext cx="18805799" cy="1393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5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Lista de Requerimientos </a:t>
              </a:r>
              <a:endParaRPr/>
            </a:p>
          </p:txBody>
        </p:sp>
        <p:sp>
          <p:nvSpPr>
            <p:cNvPr id="250" name="Google Shape;250;p8"/>
            <p:cNvSpPr txBox="1"/>
            <p:nvPr/>
          </p:nvSpPr>
          <p:spPr>
            <a:xfrm>
              <a:off x="0" y="1810756"/>
              <a:ext cx="18805799" cy="690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03200" lvl="0" marL="0" marR="0" rtl="0" algn="ct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3200"/>
                <a:buFont typeface="Arial"/>
                <a:buChar char="•"/>
              </a:pPr>
              <a:r>
                <a:rPr b="0" i="0" lang="en-US" sz="3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Nuestros requerimientos más importantes</a:t>
              </a:r>
              <a:endParaRPr/>
            </a:p>
          </p:txBody>
        </p:sp>
      </p:grpSp>
      <p:sp>
        <p:nvSpPr>
          <p:cNvPr id="251" name="Google Shape;251;p8"/>
          <p:cNvSpPr txBox="1"/>
          <p:nvPr/>
        </p:nvSpPr>
        <p:spPr>
          <a:xfrm>
            <a:off x="3754180" y="3190818"/>
            <a:ext cx="10070190" cy="5073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3995" lvl="1" marL="447990" marR="0" rtl="0" algn="l">
              <a:lnSpc>
                <a:spcPct val="150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4"/>
              <a:buFont typeface="Arial"/>
              <a:buChar char="•"/>
            </a:pPr>
            <a:r>
              <a:rPr b="0" i="0" lang="en-US" sz="2074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Autenticación por RUT y PIN: Se validará el RUT y los últimos 4 dígitos; al coincidir, el sistema enviará un enlace mágico al correo registrado para acceder al perfil.</a:t>
            </a:r>
            <a:endParaRPr/>
          </a:p>
          <a:p>
            <a:pPr indent="-223995" lvl="1" marL="447990" marR="0" rtl="0" algn="l">
              <a:lnSpc>
                <a:spcPct val="150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4"/>
              <a:buFont typeface="Arial"/>
              <a:buChar char="•"/>
            </a:pPr>
            <a:r>
              <a:rPr b="0" i="0" lang="en-US" sz="2074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Bloqueo Post-Envío: Una vez que el usuario finalice y envíe sus respuestas, el sistema bloqueará la encuesta impidiendo cualquier edición posterior.</a:t>
            </a:r>
            <a:endParaRPr/>
          </a:p>
          <a:p>
            <a:pPr indent="-223995" lvl="1" marL="447990" marR="0" rtl="0" algn="l">
              <a:lnSpc>
                <a:spcPct val="150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4"/>
              <a:buFont typeface="Arial"/>
              <a:buChar char="•"/>
            </a:pPr>
            <a:r>
              <a:rPr b="0" i="0" lang="en-US" sz="2074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Selección de Emociones: Al finalizar, el usuario podrá seleccionar de forma opcional hasta 3 emociones representativas desde un catálogo predefinido.</a:t>
            </a:r>
            <a:endParaRPr/>
          </a:p>
          <a:p>
            <a:pPr indent="-223995" lvl="1" marL="447990" marR="0" rtl="0" algn="l">
              <a:lnSpc>
                <a:spcPct val="150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4"/>
              <a:buFont typeface="Arial"/>
              <a:buChar char="•"/>
            </a:pPr>
            <a:r>
              <a:rPr b="0" i="0" lang="en-US" sz="2074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Aprobación de Planes de Acción: Módulo superior para que gerencia pueda crear, auditar, revisar y aprobar los planes propuestos por las jefaturas.</a:t>
            </a:r>
            <a:endParaRPr/>
          </a:p>
          <a:p>
            <a:pPr indent="-223995" lvl="1" marL="447990" marR="0" rtl="0" algn="l">
              <a:lnSpc>
                <a:spcPct val="150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4"/>
              <a:buFont typeface="Arial"/>
              <a:buChar char="•"/>
            </a:pPr>
            <a:r>
              <a:rPr b="0" i="0" lang="en-US" sz="2074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Control de Acceso por Roles: Garantiza la gobernanza básica del sistema. Regula la visibilidad de funciones y reportes según el nivel jerárquico (Gerencia, Jefe, Colaborador), asegurando que cada usuario acceda únicamente a la información autorizada para su alcance.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"/>
          <p:cNvSpPr/>
          <p:nvPr/>
        </p:nvSpPr>
        <p:spPr>
          <a:xfrm rot="10800000">
            <a:off x="13555980" y="0"/>
            <a:ext cx="4732020" cy="10287000"/>
          </a:xfrm>
          <a:custGeom>
            <a:rect b="b" l="l" r="r" t="t"/>
            <a:pathLst>
              <a:path extrusionOk="0" h="10287000" w="4732020">
                <a:moveTo>
                  <a:pt x="473202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4732020" y="0"/>
                </a:lnTo>
                <a:lnTo>
                  <a:pt x="473202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7" name="Google Shape;257;p9"/>
          <p:cNvGrpSpPr/>
          <p:nvPr/>
        </p:nvGrpSpPr>
        <p:grpSpPr>
          <a:xfrm>
            <a:off x="14023113" y="7905750"/>
            <a:ext cx="1238250" cy="2257425"/>
            <a:chOff x="0" y="-38100"/>
            <a:chExt cx="1651000" cy="3009900"/>
          </a:xfrm>
        </p:grpSpPr>
        <p:sp>
          <p:nvSpPr>
            <p:cNvPr id="258" name="Google Shape;258;p9"/>
            <p:cNvSpPr/>
            <p:nvPr/>
          </p:nvSpPr>
          <p:spPr>
            <a:xfrm>
              <a:off x="0" y="0"/>
              <a:ext cx="1651000" cy="2971800"/>
            </a:xfrm>
            <a:custGeom>
              <a:rect b="b" l="l" r="r" t="t"/>
              <a:pathLst>
                <a:path extrusionOk="0" h="2971800" w="1651000">
                  <a:moveTo>
                    <a:pt x="0" y="0"/>
                  </a:moveTo>
                  <a:lnTo>
                    <a:pt x="1651000" y="0"/>
                  </a:lnTo>
                  <a:lnTo>
                    <a:pt x="1651000" y="2971800"/>
                  </a:lnTo>
                  <a:lnTo>
                    <a:pt x="0" y="2971800"/>
                  </a:lnTo>
                  <a:close/>
                  <a:moveTo>
                    <a:pt x="132080" y="297180"/>
                  </a:moveTo>
                  <a:lnTo>
                    <a:pt x="1518920" y="297180"/>
                  </a:lnTo>
                  <a:lnTo>
                    <a:pt x="1518920" y="2641600"/>
                  </a:lnTo>
                  <a:lnTo>
                    <a:pt x="132080" y="2641600"/>
                  </a:lnTo>
                  <a:close/>
                  <a:moveTo>
                    <a:pt x="627380" y="2773680"/>
                  </a:moveTo>
                  <a:lnTo>
                    <a:pt x="1023620" y="2773680"/>
                  </a:lnTo>
                  <a:lnTo>
                    <a:pt x="1023620" y="2872740"/>
                  </a:lnTo>
                  <a:lnTo>
                    <a:pt x="627380" y="2872740"/>
                  </a:lnTo>
                  <a:close/>
                  <a:moveTo>
                    <a:pt x="693420" y="132080"/>
                  </a:moveTo>
                  <a:lnTo>
                    <a:pt x="957580" y="132080"/>
                  </a:lnTo>
                  <a:lnTo>
                    <a:pt x="957580" y="198120"/>
                  </a:lnTo>
                  <a:lnTo>
                    <a:pt x="693420" y="198120"/>
                  </a:lnTo>
                  <a:close/>
                </a:path>
              </a:pathLst>
            </a:custGeom>
            <a:noFill/>
            <a:ln cap="sq" cmpd="sng" w="28575">
              <a:solidFill>
                <a:srgbClr val="1F1F1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59" name="Google Shape;259;p9"/>
            <p:cNvSpPr txBox="1"/>
            <p:nvPr/>
          </p:nvSpPr>
          <p:spPr>
            <a:xfrm>
              <a:off x="0" y="-38100"/>
              <a:ext cx="1651000" cy="300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" name="Google Shape;260;p9"/>
          <p:cNvGrpSpPr/>
          <p:nvPr/>
        </p:nvGrpSpPr>
        <p:grpSpPr>
          <a:xfrm>
            <a:off x="12047484" y="8772525"/>
            <a:ext cx="1809750" cy="1390650"/>
            <a:chOff x="0" y="-38100"/>
            <a:chExt cx="2413000" cy="1854200"/>
          </a:xfrm>
        </p:grpSpPr>
        <p:sp>
          <p:nvSpPr>
            <p:cNvPr id="261" name="Google Shape;261;p9"/>
            <p:cNvSpPr/>
            <p:nvPr/>
          </p:nvSpPr>
          <p:spPr>
            <a:xfrm>
              <a:off x="0" y="0"/>
              <a:ext cx="2413000" cy="1791885"/>
            </a:xfrm>
            <a:custGeom>
              <a:rect b="b" l="l" r="r" t="t"/>
              <a:pathLst>
                <a:path extrusionOk="0" h="1791885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452880"/>
                  </a:lnTo>
                  <a:lnTo>
                    <a:pt x="0" y="1452880"/>
                  </a:lnTo>
                  <a:close/>
                  <a:moveTo>
                    <a:pt x="96520" y="96859"/>
                  </a:moveTo>
                  <a:lnTo>
                    <a:pt x="2316480" y="96859"/>
                  </a:lnTo>
                  <a:lnTo>
                    <a:pt x="2316480" y="1356021"/>
                  </a:lnTo>
                  <a:lnTo>
                    <a:pt x="96520" y="1356021"/>
                  </a:lnTo>
                  <a:close/>
                  <a:moveTo>
                    <a:pt x="1025525" y="1452880"/>
                  </a:moveTo>
                  <a:lnTo>
                    <a:pt x="1387475" y="1452880"/>
                  </a:lnTo>
                  <a:lnTo>
                    <a:pt x="1387475" y="1695027"/>
                  </a:lnTo>
                  <a:lnTo>
                    <a:pt x="1025525" y="1695027"/>
                  </a:lnTo>
                  <a:close/>
                  <a:moveTo>
                    <a:pt x="723900" y="1695027"/>
                  </a:moveTo>
                  <a:lnTo>
                    <a:pt x="1689100" y="1695027"/>
                  </a:lnTo>
                  <a:lnTo>
                    <a:pt x="1689100" y="1791885"/>
                  </a:lnTo>
                  <a:lnTo>
                    <a:pt x="723900" y="1791885"/>
                  </a:lnTo>
                  <a:close/>
                </a:path>
              </a:pathLst>
            </a:custGeom>
            <a:noFill/>
            <a:ln cap="sq" cmpd="sng" w="28575">
              <a:solidFill>
                <a:srgbClr val="1F1F1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62" name="Google Shape;262;p9"/>
            <p:cNvSpPr txBox="1"/>
            <p:nvPr/>
          </p:nvSpPr>
          <p:spPr>
            <a:xfrm>
              <a:off x="0" y="-38100"/>
              <a:ext cx="2413000" cy="185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9"/>
          <p:cNvSpPr/>
          <p:nvPr/>
        </p:nvSpPr>
        <p:spPr>
          <a:xfrm>
            <a:off x="1642570" y="2659447"/>
            <a:ext cx="4581515" cy="2484053"/>
          </a:xfrm>
          <a:custGeom>
            <a:rect b="b" l="l" r="r" t="t"/>
            <a:pathLst>
              <a:path extrusionOk="0" h="2484053" w="4581515">
                <a:moveTo>
                  <a:pt x="0" y="0"/>
                </a:moveTo>
                <a:lnTo>
                  <a:pt x="4581516" y="0"/>
                </a:lnTo>
                <a:lnTo>
                  <a:pt x="4581516" y="2484053"/>
                </a:lnTo>
                <a:lnTo>
                  <a:pt x="0" y="24840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9"/>
          <p:cNvSpPr/>
          <p:nvPr/>
        </p:nvSpPr>
        <p:spPr>
          <a:xfrm>
            <a:off x="6598690" y="2659447"/>
            <a:ext cx="4140089" cy="2484053"/>
          </a:xfrm>
          <a:custGeom>
            <a:rect b="b" l="l" r="r" t="t"/>
            <a:pathLst>
              <a:path extrusionOk="0" h="2484053" w="4140089">
                <a:moveTo>
                  <a:pt x="0" y="0"/>
                </a:moveTo>
                <a:lnTo>
                  <a:pt x="4140089" y="0"/>
                </a:lnTo>
                <a:lnTo>
                  <a:pt x="4140089" y="2484053"/>
                </a:lnTo>
                <a:lnTo>
                  <a:pt x="0" y="24840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9"/>
          <p:cNvSpPr/>
          <p:nvPr/>
        </p:nvSpPr>
        <p:spPr>
          <a:xfrm>
            <a:off x="11560746" y="2659447"/>
            <a:ext cx="3990469" cy="2560301"/>
          </a:xfrm>
          <a:custGeom>
            <a:rect b="b" l="l" r="r" t="t"/>
            <a:pathLst>
              <a:path extrusionOk="0" h="2560301" w="3990469">
                <a:moveTo>
                  <a:pt x="0" y="0"/>
                </a:moveTo>
                <a:lnTo>
                  <a:pt x="3990468" y="0"/>
                </a:lnTo>
                <a:lnTo>
                  <a:pt x="3990468" y="2560301"/>
                </a:lnTo>
                <a:lnTo>
                  <a:pt x="0" y="2560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9"/>
          <p:cNvSpPr/>
          <p:nvPr/>
        </p:nvSpPr>
        <p:spPr>
          <a:xfrm>
            <a:off x="1739425" y="5942211"/>
            <a:ext cx="4141095" cy="3039862"/>
          </a:xfrm>
          <a:custGeom>
            <a:rect b="b" l="l" r="r" t="t"/>
            <a:pathLst>
              <a:path extrusionOk="0" h="2576154" w="3888352">
                <a:moveTo>
                  <a:pt x="0" y="0"/>
                </a:moveTo>
                <a:lnTo>
                  <a:pt x="3888352" y="0"/>
                </a:lnTo>
                <a:lnTo>
                  <a:pt x="3888352" y="2576154"/>
                </a:lnTo>
                <a:lnTo>
                  <a:pt x="0" y="2576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9"/>
          <p:cNvSpPr/>
          <p:nvPr/>
        </p:nvSpPr>
        <p:spPr>
          <a:xfrm>
            <a:off x="7392326" y="6016900"/>
            <a:ext cx="5090463" cy="2646998"/>
          </a:xfrm>
          <a:custGeom>
            <a:rect b="b" l="l" r="r" t="t"/>
            <a:pathLst>
              <a:path extrusionOk="0" h="2576154" w="4648825">
                <a:moveTo>
                  <a:pt x="0" y="0"/>
                </a:moveTo>
                <a:lnTo>
                  <a:pt x="4648825" y="0"/>
                </a:lnTo>
                <a:lnTo>
                  <a:pt x="4648825" y="2576154"/>
                </a:lnTo>
                <a:lnTo>
                  <a:pt x="0" y="2576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8" name="Google Shape;268;p9"/>
          <p:cNvGrpSpPr/>
          <p:nvPr/>
        </p:nvGrpSpPr>
        <p:grpSpPr>
          <a:xfrm>
            <a:off x="2091825" y="595313"/>
            <a:ext cx="14104349" cy="1947188"/>
            <a:chOff x="0" y="-95250"/>
            <a:chExt cx="18805799" cy="2596251"/>
          </a:xfrm>
        </p:grpSpPr>
        <p:sp>
          <p:nvSpPr>
            <p:cNvPr id="269" name="Google Shape;269;p9"/>
            <p:cNvSpPr txBox="1"/>
            <p:nvPr/>
          </p:nvSpPr>
          <p:spPr>
            <a:xfrm>
              <a:off x="0" y="-95250"/>
              <a:ext cx="18805799" cy="1393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5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Mockups</a:t>
              </a:r>
              <a:endParaRPr/>
            </a:p>
          </p:txBody>
        </p:sp>
        <p:sp>
          <p:nvSpPr>
            <p:cNvPr id="270" name="Google Shape;270;p9"/>
            <p:cNvSpPr txBox="1"/>
            <p:nvPr/>
          </p:nvSpPr>
          <p:spPr>
            <a:xfrm>
              <a:off x="0" y="1810756"/>
              <a:ext cx="18805799" cy="690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03200" lvl="0" marL="0" marR="0" rtl="0" algn="ct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3200"/>
                <a:buFont typeface="Arial"/>
                <a:buChar char="•"/>
              </a:pPr>
              <a:r>
                <a:rPr b="0" i="0" lang="en-US" sz="3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Cuatro pantallas, cuatro decisiones de diseño</a:t>
              </a:r>
              <a:endParaRPr/>
            </a:p>
          </p:txBody>
        </p:sp>
      </p:grpSp>
      <p:sp>
        <p:nvSpPr>
          <p:cNvPr id="271" name="Google Shape;271;p9"/>
          <p:cNvSpPr txBox="1"/>
          <p:nvPr/>
        </p:nvSpPr>
        <p:spPr>
          <a:xfrm>
            <a:off x="3261492" y="9814560"/>
            <a:ext cx="10477500" cy="348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25" u="none" cap="none" strike="noStrike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Umbral de respuestas en default 10</a:t>
            </a:r>
            <a:endParaRPr/>
          </a:p>
        </p:txBody>
      </p:sp>
      <p:sp>
        <p:nvSpPr>
          <p:cNvPr id="272" name="Google Shape;272;p9"/>
          <p:cNvSpPr txBox="1"/>
          <p:nvPr/>
        </p:nvSpPr>
        <p:spPr>
          <a:xfrm>
            <a:off x="2379511" y="5086350"/>
            <a:ext cx="2857649" cy="292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Login y confirmación con código</a:t>
            </a:r>
            <a:endParaRPr/>
          </a:p>
        </p:txBody>
      </p:sp>
      <p:sp>
        <p:nvSpPr>
          <p:cNvPr id="273" name="Google Shape;273;p9"/>
          <p:cNvSpPr txBox="1"/>
          <p:nvPr/>
        </p:nvSpPr>
        <p:spPr>
          <a:xfrm>
            <a:off x="7892149" y="5086350"/>
            <a:ext cx="1553170" cy="292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Vista colaborador</a:t>
            </a:r>
            <a:endParaRPr/>
          </a:p>
        </p:txBody>
      </p:sp>
      <p:sp>
        <p:nvSpPr>
          <p:cNvPr id="274" name="Google Shape;274;p9"/>
          <p:cNvSpPr txBox="1"/>
          <p:nvPr/>
        </p:nvSpPr>
        <p:spPr>
          <a:xfrm>
            <a:off x="12962407" y="5162598"/>
            <a:ext cx="1553170" cy="292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Vista jefe de area</a:t>
            </a:r>
            <a:endParaRPr/>
          </a:p>
        </p:txBody>
      </p:sp>
      <p:sp>
        <p:nvSpPr>
          <p:cNvPr id="275" name="Google Shape;275;p9"/>
          <p:cNvSpPr txBox="1"/>
          <p:nvPr/>
        </p:nvSpPr>
        <p:spPr>
          <a:xfrm>
            <a:off x="3096062" y="9133971"/>
            <a:ext cx="11751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Vista gerente</a:t>
            </a:r>
            <a:endParaRPr/>
          </a:p>
        </p:txBody>
      </p:sp>
      <p:sp>
        <p:nvSpPr>
          <p:cNvPr id="276" name="Google Shape;276;p9"/>
          <p:cNvSpPr txBox="1"/>
          <p:nvPr/>
        </p:nvSpPr>
        <p:spPr>
          <a:xfrm>
            <a:off x="8902668" y="8900796"/>
            <a:ext cx="19980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Vista planes de acción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"/>
          <p:cNvSpPr/>
          <p:nvPr/>
        </p:nvSpPr>
        <p:spPr>
          <a:xfrm>
            <a:off x="-818538" y="0"/>
            <a:ext cx="5110236" cy="11139478"/>
          </a:xfrm>
          <a:custGeom>
            <a:rect b="b" l="l" r="r" t="t"/>
            <a:pathLst>
              <a:path extrusionOk="0" h="11139478" w="5110236">
                <a:moveTo>
                  <a:pt x="0" y="0"/>
                </a:moveTo>
                <a:lnTo>
                  <a:pt x="5110235" y="0"/>
                </a:lnTo>
                <a:lnTo>
                  <a:pt x="5110235" y="11139478"/>
                </a:lnTo>
                <a:lnTo>
                  <a:pt x="0" y="11139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2" name="Google Shape;282;p10"/>
          <p:cNvSpPr/>
          <p:nvPr/>
        </p:nvSpPr>
        <p:spPr>
          <a:xfrm rot="10800000">
            <a:off x="13555980" y="0"/>
            <a:ext cx="4732020" cy="10287000"/>
          </a:xfrm>
          <a:custGeom>
            <a:rect b="b" l="l" r="r" t="t"/>
            <a:pathLst>
              <a:path extrusionOk="0" h="10287000" w="4732020">
                <a:moveTo>
                  <a:pt x="473202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4732020" y="0"/>
                </a:lnTo>
                <a:lnTo>
                  <a:pt x="4732020" y="102870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3" name="Google Shape;283;p10"/>
          <p:cNvGrpSpPr/>
          <p:nvPr/>
        </p:nvGrpSpPr>
        <p:grpSpPr>
          <a:xfrm>
            <a:off x="2091825" y="595313"/>
            <a:ext cx="14104349" cy="1947188"/>
            <a:chOff x="0" y="-95250"/>
            <a:chExt cx="18805799" cy="2596251"/>
          </a:xfrm>
        </p:grpSpPr>
        <p:sp>
          <p:nvSpPr>
            <p:cNvPr id="284" name="Google Shape;284;p10"/>
            <p:cNvSpPr txBox="1"/>
            <p:nvPr/>
          </p:nvSpPr>
          <p:spPr>
            <a:xfrm>
              <a:off x="0" y="-95250"/>
              <a:ext cx="18805799" cy="1393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5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 que sigue</a:t>
              </a:r>
              <a:endParaRPr/>
            </a:p>
          </p:txBody>
        </p:sp>
        <p:sp>
          <p:nvSpPr>
            <p:cNvPr id="285" name="Google Shape;285;p10"/>
            <p:cNvSpPr txBox="1"/>
            <p:nvPr/>
          </p:nvSpPr>
          <p:spPr>
            <a:xfrm>
              <a:off x="0" y="1810756"/>
              <a:ext cx="18805799" cy="690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03200" lvl="0" marL="0" marR="0" rtl="0" algn="ct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3200"/>
                <a:buFont typeface="Arial"/>
                <a:buChar char="•"/>
              </a:pPr>
              <a:r>
                <a:rPr b="0" i="0" lang="en-US" sz="3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Lo que queda, y lo que decidimos no hacer</a:t>
              </a:r>
              <a:endParaRPr/>
            </a:p>
          </p:txBody>
        </p:sp>
      </p:grpSp>
      <p:grpSp>
        <p:nvGrpSpPr>
          <p:cNvPr id="286" name="Google Shape;286;p10"/>
          <p:cNvGrpSpPr/>
          <p:nvPr/>
        </p:nvGrpSpPr>
        <p:grpSpPr>
          <a:xfrm>
            <a:off x="4706654" y="3121819"/>
            <a:ext cx="552450" cy="581025"/>
            <a:chOff x="0" y="-38100"/>
            <a:chExt cx="736600" cy="774700"/>
          </a:xfrm>
        </p:grpSpPr>
        <p:sp>
          <p:nvSpPr>
            <p:cNvPr id="287" name="Google Shape;287;p10"/>
            <p:cNvSpPr/>
            <p:nvPr/>
          </p:nvSpPr>
          <p:spPr>
            <a:xfrm>
              <a:off x="73660" y="73660"/>
              <a:ext cx="589280" cy="589280"/>
            </a:xfrm>
            <a:custGeom>
              <a:rect b="b" l="l" r="r" t="t"/>
              <a:pathLst>
                <a:path extrusionOk="0" h="589280" w="589280">
                  <a:moveTo>
                    <a:pt x="0" y="73660"/>
                  </a:moveTo>
                  <a:lnTo>
                    <a:pt x="589280" y="73660"/>
                  </a:lnTo>
                  <a:lnTo>
                    <a:pt x="589280" y="589280"/>
                  </a:lnTo>
                  <a:lnTo>
                    <a:pt x="0" y="589280"/>
                  </a:lnTo>
                  <a:close/>
                  <a:moveTo>
                    <a:pt x="0" y="206248"/>
                  </a:moveTo>
                  <a:lnTo>
                    <a:pt x="589280" y="206248"/>
                  </a:lnTo>
                  <a:lnTo>
                    <a:pt x="589280" y="235712"/>
                  </a:lnTo>
                  <a:lnTo>
                    <a:pt x="0" y="235712"/>
                  </a:lnTo>
                  <a:close/>
                  <a:moveTo>
                    <a:pt x="132588" y="0"/>
                  </a:moveTo>
                  <a:lnTo>
                    <a:pt x="176784" y="0"/>
                  </a:lnTo>
                  <a:lnTo>
                    <a:pt x="176784" y="132588"/>
                  </a:lnTo>
                  <a:lnTo>
                    <a:pt x="132588" y="132588"/>
                  </a:lnTo>
                  <a:close/>
                  <a:moveTo>
                    <a:pt x="412496" y="0"/>
                  </a:moveTo>
                  <a:lnTo>
                    <a:pt x="456692" y="0"/>
                  </a:lnTo>
                  <a:lnTo>
                    <a:pt x="456692" y="132588"/>
                  </a:lnTo>
                  <a:lnTo>
                    <a:pt x="412496" y="132588"/>
                  </a:lnTo>
                  <a:close/>
                </a:path>
              </a:pathLst>
            </a:custGeom>
            <a:noFill/>
            <a:ln cap="sq" cmpd="sng" w="28575">
              <a:solidFill>
                <a:srgbClr val="1F1F1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88" name="Google Shape;288;p10"/>
            <p:cNvSpPr txBox="1"/>
            <p:nvPr/>
          </p:nvSpPr>
          <p:spPr>
            <a:xfrm>
              <a:off x="0" y="-38100"/>
              <a:ext cx="736600" cy="7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" name="Google Shape;289;p10"/>
          <p:cNvGrpSpPr/>
          <p:nvPr/>
        </p:nvGrpSpPr>
        <p:grpSpPr>
          <a:xfrm>
            <a:off x="9375551" y="3121819"/>
            <a:ext cx="552450" cy="581025"/>
            <a:chOff x="0" y="-38100"/>
            <a:chExt cx="736600" cy="774700"/>
          </a:xfrm>
        </p:grpSpPr>
        <p:sp>
          <p:nvSpPr>
            <p:cNvPr id="290" name="Google Shape;290;p10"/>
            <p:cNvSpPr/>
            <p:nvPr/>
          </p:nvSpPr>
          <p:spPr>
            <a:xfrm>
              <a:off x="147320" y="58928"/>
              <a:ext cx="456692" cy="618744"/>
            </a:xfrm>
            <a:custGeom>
              <a:rect b="b" l="l" r="r" t="t"/>
              <a:pathLst>
                <a:path extrusionOk="0" h="618744" w="456692">
                  <a:moveTo>
                    <a:pt x="0" y="0"/>
                  </a:moveTo>
                  <a:lnTo>
                    <a:pt x="51562" y="0"/>
                  </a:lnTo>
                  <a:lnTo>
                    <a:pt x="51562" y="618744"/>
                  </a:lnTo>
                  <a:lnTo>
                    <a:pt x="0" y="618744"/>
                  </a:lnTo>
                  <a:close/>
                  <a:moveTo>
                    <a:pt x="51562" y="58928"/>
                  </a:moveTo>
                  <a:lnTo>
                    <a:pt x="456692" y="58928"/>
                  </a:lnTo>
                  <a:lnTo>
                    <a:pt x="456692" y="338836"/>
                  </a:lnTo>
                  <a:lnTo>
                    <a:pt x="51562" y="338836"/>
                  </a:lnTo>
                  <a:close/>
                </a:path>
              </a:pathLst>
            </a:custGeom>
            <a:noFill/>
            <a:ln cap="sq" cmpd="sng" w="28575">
              <a:solidFill>
                <a:srgbClr val="1F1F1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91" name="Google Shape;291;p10"/>
            <p:cNvSpPr txBox="1"/>
            <p:nvPr/>
          </p:nvSpPr>
          <p:spPr>
            <a:xfrm>
              <a:off x="0" y="-38100"/>
              <a:ext cx="736600" cy="7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2" name="Google Shape;292;p10"/>
          <p:cNvSpPr txBox="1"/>
          <p:nvPr/>
        </p:nvSpPr>
        <p:spPr>
          <a:xfrm>
            <a:off x="4706654" y="3864769"/>
            <a:ext cx="3238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8912E"/>
                </a:solidFill>
                <a:latin typeface="Arimo"/>
                <a:ea typeface="Arimo"/>
                <a:cs typeface="Arimo"/>
                <a:sym typeface="Arimo"/>
              </a:rPr>
              <a:t>POR CRONOGRAMA</a:t>
            </a:r>
            <a:endParaRPr/>
          </a:p>
        </p:txBody>
      </p:sp>
      <p:sp>
        <p:nvSpPr>
          <p:cNvPr id="293" name="Google Shape;293;p10"/>
          <p:cNvSpPr txBox="1"/>
          <p:nvPr/>
        </p:nvSpPr>
        <p:spPr>
          <a:xfrm>
            <a:off x="4706654" y="4302919"/>
            <a:ext cx="3238500" cy="2481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Frontend, landing page y verificación de las políticas RLS.</a:t>
            </a:r>
            <a:endParaRPr/>
          </a:p>
          <a:p>
            <a:pPr indent="0" lvl="0" marL="0" marR="0" rtl="0" algn="l">
              <a:lnSpc>
                <a:spcPct val="14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75" u="none" cap="none" strike="noStrike">
              <a:solidFill>
                <a:srgbClr val="1A1A1A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4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Implementación y cierre hasta el 03-12: manuales, capacitación y acta.</a:t>
            </a:r>
            <a:endParaRPr/>
          </a:p>
        </p:txBody>
      </p:sp>
      <p:sp>
        <p:nvSpPr>
          <p:cNvPr id="294" name="Google Shape;294;p10"/>
          <p:cNvSpPr txBox="1"/>
          <p:nvPr/>
        </p:nvSpPr>
        <p:spPr>
          <a:xfrm>
            <a:off x="9375551" y="3864769"/>
            <a:ext cx="304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8912E"/>
                </a:solidFill>
                <a:latin typeface="Arimo"/>
                <a:ea typeface="Arimo"/>
                <a:cs typeface="Arimo"/>
                <a:sym typeface="Arimo"/>
              </a:rPr>
              <a:t>FUERA DEL MVP</a:t>
            </a:r>
            <a:endParaRPr/>
          </a:p>
        </p:txBody>
      </p:sp>
      <p:sp>
        <p:nvSpPr>
          <p:cNvPr id="295" name="Google Shape;295;p10"/>
          <p:cNvSpPr txBox="1"/>
          <p:nvPr/>
        </p:nvSpPr>
        <p:spPr>
          <a:xfrm>
            <a:off x="9375551" y="4302919"/>
            <a:ext cx="3048000" cy="318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Análisis de texto libre con IA.</a:t>
            </a:r>
            <a:endParaRPr/>
          </a:p>
          <a:p>
            <a:pPr indent="0" lvl="0" marL="0" marR="0" rtl="0" algn="l">
              <a:lnSpc>
                <a:spcPct val="14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75" u="none" cap="none" strike="noStrike">
              <a:solidFill>
                <a:srgbClr val="1A1A1A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4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Benchmarking entre empresas.</a:t>
            </a:r>
            <a:endParaRPr/>
          </a:p>
          <a:p>
            <a:pPr indent="0" lvl="0" marL="0" marR="0" rtl="0" algn="l">
              <a:lnSpc>
                <a:spcPct val="14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75" u="none" cap="none" strike="noStrike">
              <a:solidFill>
                <a:srgbClr val="1A1A1A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4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Cuestionario configurable, app nativa e integración con RR.HH.</a:t>
            </a:r>
            <a:endParaRPr/>
          </a:p>
        </p:txBody>
      </p:sp>
      <p:sp>
        <p:nvSpPr>
          <p:cNvPr id="296" name="Google Shape;296;p10"/>
          <p:cNvSpPr txBox="1"/>
          <p:nvPr/>
        </p:nvSpPr>
        <p:spPr>
          <a:xfrm>
            <a:off x="3173725" y="8653025"/>
            <a:ext cx="10382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Las dos cosas que sacamos, las sacamos por la misma razón: ninguna aguantaba la promesa central del producto.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a9df5ad9d_0_0"/>
          <p:cNvSpPr/>
          <p:nvPr/>
        </p:nvSpPr>
        <p:spPr>
          <a:xfrm>
            <a:off x="-818538" y="0"/>
            <a:ext cx="5110236" cy="11139478"/>
          </a:xfrm>
          <a:custGeom>
            <a:rect b="b" l="l" r="r" t="t"/>
            <a:pathLst>
              <a:path extrusionOk="0" h="11139478" w="5110236">
                <a:moveTo>
                  <a:pt x="0" y="0"/>
                </a:moveTo>
                <a:lnTo>
                  <a:pt x="5110235" y="0"/>
                </a:lnTo>
                <a:lnTo>
                  <a:pt x="5110235" y="11139478"/>
                </a:lnTo>
                <a:lnTo>
                  <a:pt x="0" y="11139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g3fa9df5ad9d_0_0"/>
          <p:cNvSpPr/>
          <p:nvPr/>
        </p:nvSpPr>
        <p:spPr>
          <a:xfrm rot="10800000">
            <a:off x="13555980" y="0"/>
            <a:ext cx="4732020" cy="10287000"/>
          </a:xfrm>
          <a:custGeom>
            <a:rect b="b" l="l" r="r" t="t"/>
            <a:pathLst>
              <a:path extrusionOk="0" h="10287000" w="4732020">
                <a:moveTo>
                  <a:pt x="473202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4732020" y="0"/>
                </a:lnTo>
                <a:lnTo>
                  <a:pt x="4732020" y="102870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g3fa9df5ad9d_0_0"/>
          <p:cNvSpPr txBox="1"/>
          <p:nvPr/>
        </p:nvSpPr>
        <p:spPr>
          <a:xfrm>
            <a:off x="3738488" y="7985300"/>
            <a:ext cx="103824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Integrantes:</a:t>
            </a:r>
            <a:br>
              <a:rPr i="1" lang="en-US" sz="2100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i="1" lang="en-US" sz="2100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Gerald Silva</a:t>
            </a:r>
            <a:endParaRPr i="1" sz="2100">
              <a:solidFill>
                <a:srgbClr val="6B6B6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Christian Soto</a:t>
            </a:r>
            <a:endParaRPr i="1" sz="2100">
              <a:solidFill>
                <a:srgbClr val="6B6B6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Kevin Herrera</a:t>
            </a:r>
            <a:endParaRPr i="1" sz="2100">
              <a:solidFill>
                <a:srgbClr val="6B6B6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304" name="Google Shape;304;g3fa9df5ad9d_0_0"/>
          <p:cNvGrpSpPr/>
          <p:nvPr/>
        </p:nvGrpSpPr>
        <p:grpSpPr>
          <a:xfrm>
            <a:off x="1663200" y="2024817"/>
            <a:ext cx="14532975" cy="2458346"/>
            <a:chOff x="-571500" y="1810756"/>
            <a:chExt cx="19377300" cy="3277794"/>
          </a:xfrm>
        </p:grpSpPr>
        <p:sp>
          <p:nvSpPr>
            <p:cNvPr id="305" name="Google Shape;305;g3fa9df5ad9d_0_0"/>
            <p:cNvSpPr txBox="1"/>
            <p:nvPr/>
          </p:nvSpPr>
          <p:spPr>
            <a:xfrm>
              <a:off x="-571500" y="3775150"/>
              <a:ext cx="18805800" cy="131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5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399"/>
                <a:t>Gracias!</a:t>
              </a:r>
              <a:endParaRPr/>
            </a:p>
          </p:txBody>
        </p:sp>
        <p:sp>
          <p:nvSpPr>
            <p:cNvPr id="306" name="Google Shape;306;g3fa9df5ad9d_0_0"/>
            <p:cNvSpPr txBox="1"/>
            <p:nvPr/>
          </p:nvSpPr>
          <p:spPr>
            <a:xfrm>
              <a:off x="0" y="1810756"/>
              <a:ext cx="188058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457200" marR="0" rtl="0" algn="ct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